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69" r:id="rId9"/>
    <p:sldId id="261" r:id="rId10"/>
    <p:sldId id="262" r:id="rId11"/>
    <p:sldId id="263" r:id="rId12"/>
    <p:sldId id="264" r:id="rId13"/>
    <p:sldId id="265" r:id="rId14"/>
    <p:sldId id="266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B0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3" d="100"/>
          <a:sy n="133" d="100"/>
        </p:scale>
        <p:origin x="156" y="4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89B4FA"/>
                </a:solidFill>
                <a:latin typeface="Segoe UI"/>
              </a:defRPr>
            </a:pPr>
            <a:r>
              <a:rPr lang="en-US" dirty="0"/>
              <a:t>AI</a:t>
            </a:r>
            <a:r>
              <a:rPr dirty="0"/>
              <a:t> Orchestrated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DD6F4"/>
                </a:solidFill>
                <a:latin typeface="Segoe UI"/>
              </a:defRPr>
            </a:pPr>
            <a:r>
              <a:t>From single-turn LLM conversations to a structured Plan → Investigate → Synthesize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7086"/>
                </a:solidFill>
                <a:latin typeface="Cascadia Code"/>
              </a:defRPr>
            </a:pPr>
            <a:r>
              <a:rPr dirty="0"/>
              <a:t>Model: azure/gpt-5.1-codex   │   Static Analysis: Coverity + CodeQL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6E3A1"/>
                </a:solidFill>
                <a:latin typeface="Segoe UI"/>
              </a:defRPr>
            </a:pPr>
            <a:r>
              <a:t>Plan  →  Investigate  →  Synthesize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The Problem: Manual Triage Doesn’t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600"/>
              </a:spcBef>
              <a:defRPr sz="20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•  Coverity + CodeQL generate hundreds of static-analysis findings</a:t>
            </a:r>
          </a:p>
          <a:p>
            <a:pPr>
              <a:spcBef>
                <a:spcPts val="1600"/>
              </a:spcBef>
              <a:defRPr sz="2000">
                <a:solidFill>
                  <a:srgbClr val="CDD6F4"/>
                </a:solidFill>
                <a:latin typeface="Segoe UI"/>
              </a:defRPr>
            </a:pPr>
            <a:r>
              <a:rPr dirty="0"/>
              <a:t>•  Each finding requires a human to read code, trace data flow, assess guards</a:t>
            </a:r>
          </a:p>
          <a:p>
            <a:pPr>
              <a:spcBef>
                <a:spcPts val="1600"/>
              </a:spcBef>
              <a:defRPr sz="2000">
                <a:solidFill>
                  <a:srgbClr val="FAB387"/>
                </a:solidFill>
                <a:latin typeface="Segoe UI"/>
              </a:defRPr>
            </a:pPr>
            <a:r>
              <a:rPr dirty="0"/>
              <a:t>•  Experienced security engineers spend 10–30 min per issue</a:t>
            </a:r>
          </a:p>
          <a:p>
            <a:pPr>
              <a:spcBef>
                <a:spcPts val="1600"/>
              </a:spcBef>
              <a:defRPr sz="2000">
                <a:solidFill>
                  <a:srgbClr val="CDD6F4"/>
                </a:solidFill>
                <a:latin typeface="Segoe UI"/>
              </a:defRPr>
            </a:pPr>
            <a:r>
              <a:rPr dirty="0"/>
              <a:t>•  Many findings are False Positives — valid guards exist but the tool can’t see them</a:t>
            </a:r>
          </a:p>
          <a:p>
            <a:pPr>
              <a:spcBef>
                <a:spcPts val="1600"/>
              </a:spcBef>
              <a:defRPr sz="2000">
                <a:solidFill>
                  <a:srgbClr val="A6E3A1"/>
                </a:solidFill>
                <a:latin typeface="Segoe UI"/>
              </a:defRPr>
            </a:pPr>
            <a:r>
              <a:rPr dirty="0"/>
              <a:t>•  Goal: LLM-powered triage that can classify TP / FP with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086"/>
                </a:solidFill>
                <a:latin typeface="Cascadia Code"/>
              </a:defRPr>
            </a:pPr>
            <a:r>
              <a:t>Verdict codes:  1337 = True Positive  │  1007 = False Positive  │  7331 = Needs More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Old Mode: Single Multi-Turn Conversation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LLMAnalyzer  —  one long chat with the LLM making all decisions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00400" cy="502920"/>
          </a:xfrm>
          <a:prstGeom prst="round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Alert +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00400" cy="502920"/>
          </a:xfrm>
          <a:prstGeom prst="round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 System Messages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200400" cy="502920"/>
          </a:xfrm>
          <a:prstGeom prst="round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LLM Picks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3200400" cy="50292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Execute → Inject Results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3200400" cy="502920"/>
          </a:xfrm>
          <a:prstGeom prst="round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Check Evidence Flags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3200400" cy="50292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Verdict or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606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086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246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086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886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086"/>
                </a:solidFill>
                <a:latin typeface="Segoe UI"/>
              </a:defRPr>
            </a:pPr>
            <a:r>
              <a:t>↻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9B4FA"/>
                </a:solidFill>
                <a:latin typeface="Segoe UI"/>
              </a:defRPr>
            </a:pPr>
            <a:r>
              <a:t>How It Works</a:t>
            </a:r>
          </a:p>
          <a:p>
            <a:pPr>
              <a:spcBef>
                <a:spcPts val="1400"/>
              </a:spcBef>
              <a:defRPr sz="1700" b="0">
                <a:solidFill>
                  <a:srgbClr val="CDD6F4"/>
                </a:solidFill>
                <a:latin typeface="Segoe UI"/>
              </a:defRPr>
            </a:pPr>
            <a:r>
              <a:t>•  LLM decides which tools to call and in what order</a:t>
            </a:r>
          </a:p>
          <a:p>
            <a:pPr>
              <a:spcBef>
                <a:spcPts val="1400"/>
              </a:spcBef>
              <a:defRPr sz="1700" b="0">
                <a:solidFill>
                  <a:srgbClr val="CDD6F4"/>
                </a:solidFill>
                <a:latin typeface="Segoe UI"/>
              </a:defRPr>
            </a:pPr>
            <a:r>
              <a:t>•  Sequential rounds — no parallelization</a:t>
            </a:r>
          </a:p>
          <a:p>
            <a:pPr>
              <a:spcBef>
                <a:spcPts val="1400"/>
              </a:spcBef>
              <a:defRPr sz="1700" b="0">
                <a:solidFill>
                  <a:srgbClr val="CDD6F4"/>
                </a:solidFill>
                <a:latin typeface="Segoe UI"/>
              </a:defRPr>
            </a:pPr>
            <a:r>
              <a:t>•  Evidence tracked via sticky flags (MECHANISM, GUARDS, EXPLOITABILITY)</a:t>
            </a:r>
          </a:p>
          <a:p>
            <a:pPr>
              <a:spcBef>
                <a:spcPts val="1400"/>
              </a:spcBef>
              <a:defRPr sz="1700" b="0">
                <a:solidFill>
                  <a:srgbClr val="CDD6F4"/>
                </a:solidFill>
                <a:latin typeface="Segoe UI"/>
              </a:defRPr>
            </a:pPr>
            <a:r>
              <a:t>•  4 system messages injected (role, workflow, status codes, tools)</a:t>
            </a:r>
          </a:p>
          <a:p>
            <a:pPr>
              <a:spcBef>
                <a:spcPts val="1400"/>
              </a:spcBef>
              <a:defRPr sz="1700" b="0">
                <a:solidFill>
                  <a:srgbClr val="6C7086"/>
                </a:solidFill>
                <a:latin typeface="Segoe UI"/>
              </a:defRPr>
            </a:pPr>
            <a:r>
              <a:t>•  Tools: get_function_code, get_caller_function, get_class, get_macro, get_global_var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Old Mode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Why a single conversation with full LLM autonomy falls short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B387"/>
                </a:solidFill>
                <a:latin typeface="Segoe UI"/>
              </a:defRPr>
            </a:pPr>
            <a:r>
              <a:t>⚠  Topic Drift</a:t>
            </a:r>
          </a:p>
          <a:p>
            <a:pPr>
              <a:spcBef>
                <a:spcPts val="8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t>LLM reasoning can diverge from actual code.</a:t>
            </a:r>
            <a:br/>
            <a:r>
              <a:t>It may chase irrelevant functions for many rounds.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5029200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B387"/>
                </a:solidFill>
                <a:latin typeface="Segoe UI"/>
              </a:defRPr>
            </a:pPr>
            <a:r>
              <a:rPr dirty="0"/>
              <a:t>⚠  No Parallelization</a:t>
            </a:r>
          </a:p>
          <a:p>
            <a:pPr>
              <a:spcBef>
                <a:spcPts val="8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All tool calls are sequential — one round at a time.</a:t>
            </a:r>
            <a:br>
              <a:rPr dirty="0"/>
            </a:br>
            <a:r>
              <a:rPr dirty="0"/>
              <a:t>Complex cases serialize poorly.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B387"/>
                </a:solidFill>
                <a:latin typeface="Segoe UI"/>
              </a:defRPr>
            </a:pPr>
            <a:r>
              <a:t>⚠  Duplicate Tool Calls</a:t>
            </a:r>
          </a:p>
          <a:p>
            <a:pPr>
              <a:spcBef>
                <a:spcPts val="8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t>LLM may request the same function lookup twice.</a:t>
            </a:r>
            <a:br/>
            <a:r>
              <a:t>No deduplication across rounds.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B387"/>
                </a:solidFill>
                <a:latin typeface="Segoe UI"/>
              </a:defRPr>
            </a:pPr>
            <a:r>
              <a:t>⚠  Dead-End Loops</a:t>
            </a:r>
          </a:p>
          <a:p>
            <a:pPr>
              <a:spcBef>
                <a:spcPts val="8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t>LLM can spend many rounds on a fruitless path</a:t>
            </a:r>
            <a:br/>
            <a:r>
              <a:t>before trying a different approach.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017520"/>
            <a:ext cx="5029200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AB387"/>
                </a:solidFill>
                <a:latin typeface="Segoe UI"/>
              </a:defRPr>
            </a:pPr>
            <a:r>
              <a:rPr dirty="0"/>
              <a:t>⚠  Hard to </a:t>
            </a:r>
            <a:r>
              <a:rPr lang="en-US" dirty="0"/>
              <a:t>Enhance &amp; </a:t>
            </a:r>
            <a:r>
              <a:rPr dirty="0"/>
              <a:t>Debug</a:t>
            </a:r>
          </a:p>
          <a:p>
            <a:pPr>
              <a:spcBef>
                <a:spcPts val="8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One big conversation log — no easy way to see</a:t>
            </a:r>
            <a:br>
              <a:rPr dirty="0"/>
            </a:br>
            <a:r>
              <a:rPr dirty="0"/>
              <a:t>which round introduced a wrong conclusion.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B387"/>
                </a:solidFill>
                <a:latin typeface="Segoe UI"/>
              </a:defRPr>
            </a:pPr>
            <a:r>
              <a:t>⚠  Guard Blindness</a:t>
            </a:r>
          </a:p>
          <a:p>
            <a:pPr>
              <a:spcBef>
                <a:spcPts val="8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t>No systematic strategy for checking call-site guards.</a:t>
            </a:r>
            <a:br/>
            <a:r>
              <a:t>Guards often missed or dismissed.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Orchestrated Mode: 3-Phase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Python orchestrates — the LLM answers focused questions, not driving the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1188720"/>
          </a:xfrm>
          <a:prstGeom prst="round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Phase 1: PLAN</a:t>
            </a:r>
            <a:br/>
            <a:r>
              <a:t>Decompose alert into investigation leads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474720" cy="1188720"/>
          </a:xfrm>
          <a:prstGeom prst="roundRect">
            <a:avLst/>
          </a:prstGeom>
          <a:solidFill>
            <a:srgbClr val="94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Phase 2: INVESTIGATE</a:t>
            </a:r>
            <a:br/>
            <a:r>
              <a:t>Parallel per-lead tool calling +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463040"/>
            <a:ext cx="3474720" cy="118872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Phase 3: SYNTHESIZE</a:t>
            </a:r>
            <a:br/>
            <a:r>
              <a:t>Chain findings into final 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6C708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6C708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3474720" cy="1354089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CDD6F4"/>
                </a:solidFill>
                <a:latin typeface="Cascadia Code"/>
              </a:defRPr>
            </a:pPr>
            <a:r>
              <a:rPr dirty="0"/>
              <a:t>• Reads alert + flagged code</a:t>
            </a:r>
            <a:br>
              <a:rPr dirty="0"/>
            </a:br>
            <a:r>
              <a:rPr dirty="0"/>
              <a:t>• Outputs JSON array of leads</a:t>
            </a:r>
            <a:br>
              <a:rPr dirty="0"/>
            </a:br>
            <a:r>
              <a:rPr dirty="0"/>
              <a:t>• Each lead: question, why,</a:t>
            </a:r>
            <a:br>
              <a:rPr dirty="0"/>
            </a:br>
            <a:r>
              <a:rPr dirty="0"/>
              <a:t>   evaluation criteria, line</a:t>
            </a:r>
            <a:r>
              <a:rPr lang="en-US" dirty="0"/>
              <a:t>     	</a:t>
            </a:r>
            <a:r>
              <a:rPr dirty="0" err="1"/>
              <a:t>nums</a:t>
            </a:r>
            <a:r>
              <a:rPr dirty="0"/>
              <a:t>, seed tools to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926080"/>
            <a:ext cx="3474720" cy="212353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400">
                <a:solidFill>
                  <a:srgbClr val="CDD6F4"/>
                </a:solidFill>
                <a:latin typeface="Cascadia Code"/>
              </a:defRPr>
            </a:pPr>
            <a:r>
              <a:rPr lang="en-US" dirty="0"/>
              <a:t>Focused, receives only the question and seeded tool info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400">
                <a:solidFill>
                  <a:srgbClr val="CDD6F4"/>
                </a:solidFill>
                <a:latin typeface="Cascadia Code"/>
              </a:defRPr>
            </a:pPr>
            <a:r>
              <a:rPr dirty="0"/>
              <a:t>Runs each lead in parallel</a:t>
            </a:r>
            <a:endParaRPr lang="en-US" dirty="0"/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400">
                <a:solidFill>
                  <a:srgbClr val="CDD6F4"/>
                </a:solidFill>
                <a:latin typeface="Cascadia Code"/>
              </a:defRPr>
            </a:pPr>
            <a:r>
              <a:rPr dirty="0"/>
              <a:t>Seed tools auto-executed</a:t>
            </a:r>
            <a:endParaRPr lang="en-US" dirty="0"/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400">
                <a:solidFill>
                  <a:srgbClr val="CDD6F4"/>
                </a:solidFill>
                <a:latin typeface="Cascadia Code"/>
              </a:defRPr>
            </a:pPr>
            <a:r>
              <a:rPr dirty="0"/>
              <a:t>LLM gets 12</a:t>
            </a:r>
            <a:r>
              <a:rPr lang="en-US" dirty="0"/>
              <a:t>+</a:t>
            </a:r>
            <a:r>
              <a:rPr dirty="0"/>
              <a:t> follow-up calls</a:t>
            </a:r>
            <a:endParaRPr lang="en-US" dirty="0"/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400">
                <a:solidFill>
                  <a:srgbClr val="CDD6F4"/>
                </a:solidFill>
                <a:latin typeface="Cascadia Code"/>
              </a:defRPr>
            </a:pPr>
            <a:r>
              <a:rPr dirty="0"/>
              <a:t>Tool cache deduplicates</a:t>
            </a:r>
            <a:endParaRPr lang="en-US" dirty="0"/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400">
                <a:solidFill>
                  <a:srgbClr val="CDD6F4"/>
                </a:solidFill>
                <a:latin typeface="Cascadia Code"/>
              </a:defRPr>
            </a:pPr>
            <a:r>
              <a:rPr lang="en-US" dirty="0"/>
              <a:t>6 </a:t>
            </a:r>
            <a:r>
              <a:rPr dirty="0"/>
              <a:t>consecutive</a:t>
            </a:r>
            <a:r>
              <a:rPr lang="en-US" dirty="0"/>
              <a:t> </a:t>
            </a:r>
            <a:r>
              <a:rPr dirty="0"/>
              <a:t>fails → stop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926080"/>
            <a:ext cx="3474720" cy="1610569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CDD6F4"/>
                </a:solidFill>
                <a:latin typeface="Cascadia Code"/>
              </a:defRPr>
            </a:pPr>
            <a:r>
              <a:rPr dirty="0"/>
              <a:t>• Receives all lead findings</a:t>
            </a:r>
            <a:br>
              <a:rPr dirty="0"/>
            </a:br>
            <a:r>
              <a:rPr dirty="0"/>
              <a:t>• No tools — pure reasoning</a:t>
            </a:r>
            <a:br>
              <a:rPr dirty="0"/>
            </a:br>
            <a:r>
              <a:rPr dirty="0"/>
              <a:t>• Traces data flow source → </a:t>
            </a:r>
            <a:r>
              <a:rPr lang="en-US" dirty="0"/>
              <a:t>	</a:t>
            </a:r>
            <a:r>
              <a:rPr dirty="0"/>
              <a:t>sink</a:t>
            </a:r>
            <a:br>
              <a:rPr dirty="0"/>
            </a:br>
            <a:r>
              <a:rPr dirty="0"/>
              <a:t>• Assesses guard effectiveness</a:t>
            </a:r>
            <a:br>
              <a:rPr dirty="0"/>
            </a:br>
            <a:r>
              <a:rPr dirty="0"/>
              <a:t>• Returns verdict +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E2AF"/>
                </a:solidFill>
                <a:latin typeface="Segoe UI"/>
              </a:defRPr>
            </a:pPr>
            <a:r>
              <a:rPr lang="en-US" dirty="0"/>
              <a:t>LLM Planner</a:t>
            </a:r>
            <a:r>
              <a:rPr dirty="0"/>
              <a:t> decides what to investigate. </a:t>
            </a:r>
            <a:r>
              <a:rPr lang="en-US" dirty="0"/>
              <a:t>Each</a:t>
            </a:r>
            <a:r>
              <a:rPr dirty="0"/>
              <a:t> LLM</a:t>
            </a:r>
            <a:r>
              <a:rPr lang="en-US" dirty="0"/>
              <a:t> Investigator</a:t>
            </a:r>
            <a:r>
              <a:rPr dirty="0"/>
              <a:t> answers one focused question.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Phase 1 Prompt — The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Role: “Expert security researcher” — security-aware because it must understand alert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9B4FA"/>
                </a:solidFill>
                <a:latin typeface="Segoe UI"/>
              </a:defRPr>
            </a:pPr>
            <a:r>
              <a:t>Prompt Instructions</a:t>
            </a:r>
          </a:p>
          <a:p>
            <a:pPr>
              <a:spcBef>
                <a:spcPts val="10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•  Plan, don’t decide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Explicitly forbidden from reaching a verdict or presupposing answers.</a:t>
            </a:r>
          </a:p>
          <a:p>
            <a:pPr>
              <a:spcBef>
                <a:spcPts val="10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•  Cite line numbers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Every question, why, and evaluate must reference specific source lines.</a:t>
            </a:r>
          </a:p>
          <a:p>
            <a:pPr>
              <a:spcBef>
                <a:spcPts val="10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•  Observable properties only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Ask about return ranges, types, control flow — never infer from names.</a:t>
            </a:r>
          </a:p>
          <a:p>
            <a:pPr>
              <a:spcBef>
                <a:spcPts val="10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•  Self-contained leads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Each lead answerable independently — enables parallel execution.</a:t>
            </a:r>
          </a:p>
          <a:p>
            <a:pPr>
              <a:spcBef>
                <a:spcPts val="10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•  Data-flow prioritization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Focus on functions between source and sink, not downstream consumers.</a:t>
            </a:r>
          </a:p>
          <a:p>
            <a:pPr>
              <a:spcBef>
                <a:spcPts val="10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•  Explicit guard leads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Separate lead for caller-side guards — don’t fold into callee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E2AF"/>
                </a:solidFill>
                <a:latin typeface="Segoe UI"/>
              </a:defRPr>
            </a:pPr>
            <a:r>
              <a:rPr dirty="0"/>
              <a:t>Design Rationale</a:t>
            </a:r>
          </a:p>
          <a:p>
            <a:pPr>
              <a:spcBef>
                <a:spcPts val="1200"/>
              </a:spcBef>
              <a:defRPr sz="1600" b="1">
                <a:solidFill>
                  <a:srgbClr val="FAB387"/>
                </a:solidFill>
                <a:latin typeface="Segoe UI"/>
              </a:defRPr>
            </a:pPr>
            <a:r>
              <a:rPr dirty="0"/>
              <a:t>Knows it’s security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The planner MUST understand the alert type (buffer overflow, use-after-free, etc.) to decompose it into the right questions. Without security context, it can’t identify what matters.</a:t>
            </a:r>
          </a:p>
          <a:p>
            <a:pPr>
              <a:spcBef>
                <a:spcPts val="1200"/>
              </a:spcBef>
              <a:defRPr sz="1600" b="1">
                <a:solidFill>
                  <a:srgbClr val="FAB387"/>
                </a:solidFill>
                <a:latin typeface="Segoe UI"/>
              </a:defRPr>
            </a:pPr>
            <a:r>
              <a:rPr dirty="0"/>
              <a:t>Forbidden from concluding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Separation of concerns: if the planner also reasons about verdicts, it biases the questions. Planning and judging must be decoupled.</a:t>
            </a:r>
          </a:p>
          <a:p>
            <a:pPr>
              <a:spcBef>
                <a:spcPts val="1200"/>
              </a:spcBef>
              <a:defRPr sz="1600" b="1">
                <a:solidFill>
                  <a:srgbClr val="FAB387"/>
                </a:solidFill>
                <a:latin typeface="Segoe UI"/>
              </a:defRPr>
            </a:pPr>
            <a:r>
              <a:rPr dirty="0"/>
              <a:t>No name-based assumptions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LLMs readily assume “</a:t>
            </a:r>
            <a:r>
              <a:rPr dirty="0" err="1"/>
              <a:t>GetSize</a:t>
            </a:r>
            <a:r>
              <a:rPr dirty="0"/>
              <a:t> returns a size” or “</a:t>
            </a:r>
            <a:r>
              <a:rPr dirty="0" err="1"/>
              <a:t>IsValid</a:t>
            </a:r>
            <a:r>
              <a:rPr dirty="0"/>
              <a:t> checks validity.” The prompt forces observable questions to prevent hallucinated reasoning shortcuts.</a:t>
            </a:r>
          </a:p>
          <a:p>
            <a:pPr>
              <a:spcBef>
                <a:spcPts val="1200"/>
              </a:spcBef>
              <a:defRPr sz="1600" b="1">
                <a:solidFill>
                  <a:srgbClr val="FAB387"/>
                </a:solidFill>
                <a:latin typeface="Segoe UI"/>
              </a:defRPr>
            </a:pPr>
            <a:r>
              <a:rPr dirty="0"/>
              <a:t>Guard leads mandated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Most FP misclassifications come from missed caller-side guards. Requiring a separate guard lead ensures the synthesizer gets explicit evidence about protections.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Phase 2 Prompt — The Investigator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Role: “Code researcher” — deliberately NOT told this is about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03520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9B4FA"/>
                </a:solidFill>
                <a:latin typeface="Segoe UI"/>
              </a:defRPr>
            </a:pPr>
            <a:r>
              <a:rPr dirty="0"/>
              <a:t>Prompt Instructions</a:t>
            </a:r>
          </a:p>
          <a:p>
            <a:pPr>
              <a:spcBef>
                <a:spcPts val="1000"/>
              </a:spcBef>
              <a:defRPr sz="1600" b="1">
                <a:solidFill>
                  <a:srgbClr val="94E2D5"/>
                </a:solidFill>
                <a:latin typeface="Segoe UI"/>
              </a:defRPr>
            </a:pPr>
            <a:r>
              <a:rPr dirty="0"/>
              <a:t>•  Answer ONE question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Scoped to a single lead — no verdict, no security judgment.</a:t>
            </a:r>
          </a:p>
          <a:p>
            <a:pPr>
              <a:spcBef>
                <a:spcPts val="1000"/>
              </a:spcBef>
              <a:defRPr sz="1600" b="1">
                <a:solidFill>
                  <a:srgbClr val="94E2D5"/>
                </a:solidFill>
                <a:latin typeface="Segoe UI"/>
              </a:defRPr>
            </a:pPr>
            <a:r>
              <a:rPr dirty="0"/>
              <a:t>•  Check the </a:t>
            </a:r>
            <a:r>
              <a:rPr lang="en-US" dirty="0"/>
              <a:t>tool </a:t>
            </a:r>
            <a:r>
              <a:rPr dirty="0"/>
              <a:t>ledger first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PRIOR TOOL RESULTS list prevents duplicate tool calls.</a:t>
            </a:r>
          </a:p>
          <a:p>
            <a:pPr>
              <a:spcBef>
                <a:spcPts val="1000"/>
              </a:spcBef>
              <a:defRPr sz="1600" b="1">
                <a:solidFill>
                  <a:srgbClr val="94E2D5"/>
                </a:solidFill>
                <a:latin typeface="Segoe UI"/>
              </a:defRPr>
            </a:pPr>
            <a:r>
              <a:rPr dirty="0"/>
              <a:t>•  “Can I answer now?”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Must ask this before every tool call — stops wasteful exploration.</a:t>
            </a:r>
          </a:p>
          <a:p>
            <a:pPr>
              <a:spcBef>
                <a:spcPts val="1000"/>
              </a:spcBef>
              <a:defRPr sz="1600" b="1">
                <a:solidFill>
                  <a:srgbClr val="94E2D5"/>
                </a:solidFill>
                <a:latin typeface="Segoe UI"/>
              </a:defRPr>
            </a:pPr>
            <a:r>
              <a:rPr dirty="0"/>
              <a:t>•  Follow delegation chains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If a function just forwards data, look up the callee. Don’t stop at pass-throughs.</a:t>
            </a:r>
          </a:p>
          <a:p>
            <a:pPr>
              <a:spcBef>
                <a:spcPts val="1000"/>
              </a:spcBef>
              <a:defRPr sz="1600" b="1">
                <a:solidFill>
                  <a:srgbClr val="94E2D5"/>
                </a:solidFill>
                <a:latin typeface="Segoe UI"/>
              </a:defRPr>
            </a:pPr>
            <a:r>
              <a:rPr dirty="0"/>
              <a:t>•  Evidence audit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Strip assertions before responding — if removing them changes the answer, it was wrong.</a:t>
            </a:r>
          </a:p>
          <a:p>
            <a:pPr>
              <a:spcBef>
                <a:spcPts val="1000"/>
              </a:spcBef>
              <a:defRPr sz="1600" b="1">
                <a:solidFill>
                  <a:srgbClr val="94E2D5"/>
                </a:solidFill>
                <a:latin typeface="Segoe UI"/>
              </a:defRPr>
            </a:pPr>
            <a:r>
              <a:rPr dirty="0"/>
              <a:t>•  Only look up visible names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Every tool argument must appear in code already seen. No invented names.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E2AF"/>
                </a:solidFill>
                <a:latin typeface="Segoe UI"/>
              </a:defRPr>
            </a:pPr>
            <a:r>
              <a:t>Design Rationale</a:t>
            </a:r>
          </a:p>
          <a:p>
            <a:pPr>
              <a:spcBef>
                <a:spcPts val="1200"/>
              </a:spcBef>
              <a:defRPr sz="1600" b="1">
                <a:solidFill>
                  <a:srgbClr val="FAB387"/>
                </a:solidFill>
                <a:latin typeface="Segoe UI"/>
              </a:defRPr>
            </a:pPr>
            <a:r>
              <a:t>Does NOT know it’s security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This is the key design choice. The investigator is told it’s a “code researcher” — not a security analyst. This prevents it from jumping to security conclusions or dismissing findings as “probably safe.” It just reports what the code does.</a:t>
            </a:r>
          </a:p>
          <a:p>
            <a:pPr>
              <a:spcBef>
                <a:spcPts val="1200"/>
              </a:spcBef>
              <a:defRPr sz="1600" b="1">
                <a:solidFill>
                  <a:srgbClr val="FAB387"/>
                </a:solidFill>
                <a:latin typeface="Segoe UI"/>
              </a:defRPr>
            </a:pPr>
            <a:r>
              <a:t>Factual, not judgmental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Without security framing, the LLM treats every code path equally. It won’t rationalize away a missing bounds check because “the function name suggests it’s safe.”</a:t>
            </a:r>
          </a:p>
          <a:p>
            <a:pPr>
              <a:spcBef>
                <a:spcPts val="1200"/>
              </a:spcBef>
              <a:defRPr sz="1600" b="1">
                <a:solidFill>
                  <a:srgbClr val="FAB387"/>
                </a:solidFill>
                <a:latin typeface="Segoe UI"/>
              </a:defRPr>
            </a:pPr>
            <a:r>
              <a:t>Tight tool discipline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The ledger check + “can I answer now?” pattern cuts tool usage dramatically. Old mode had no dedup — LLM would re-request the same function multiple times.</a:t>
            </a:r>
          </a:p>
          <a:p>
            <a:pPr>
              <a:spcBef>
                <a:spcPts val="1200"/>
              </a:spcBef>
              <a:defRPr sz="1600" b="1">
                <a:solidFill>
                  <a:srgbClr val="FAB387"/>
                </a:solidFill>
                <a:latin typeface="Segoe UI"/>
              </a:defRPr>
            </a:pPr>
            <a:r>
              <a:t>Assertion stripping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Assertions compile to no-ops in production. LLMs treat them as real guards unless explicitly told otherwise. The evidence audit forces the investigator to remove them before concluding.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Phase 3 Prompt — The Synthesizer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Role: “Expert security researcher” — security context restored for the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9B4FA"/>
                </a:solidFill>
                <a:latin typeface="Segoe UI"/>
              </a:defRPr>
            </a:pPr>
            <a:r>
              <a:t>Prompt Instructions</a:t>
            </a:r>
          </a:p>
          <a:p>
            <a:pPr>
              <a:spcBef>
                <a:spcPts val="10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•  Chain findings together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Trace data flow from source to sink using evidence from all leads.</a:t>
            </a:r>
          </a:p>
          <a:p>
            <a:pPr>
              <a:spcBef>
                <a:spcPts val="10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•  No tools — pure reasoning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Works only from pre-gathered evidence. Cannot request new lookups.</a:t>
            </a:r>
          </a:p>
          <a:p>
            <a:pPr>
              <a:spcBef>
                <a:spcPts val="10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•  Guard assessment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List every guard: effective (runtime bound) vs. ineffective (assertion/missing).</a:t>
            </a:r>
          </a:p>
          <a:p>
            <a:pPr>
              <a:spcBef>
                <a:spcPts val="10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•  Transitive assertion rule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If a guard’s limit is only bounded by an assertion, the guard itself is broken.</a:t>
            </a:r>
          </a:p>
          <a:p>
            <a:pPr>
              <a:spcBef>
                <a:spcPts val="10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•  Structured verdict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Evidence Summary → Data Flow → Guard Assessment → Status Code.</a:t>
            </a:r>
          </a:p>
          <a:p>
            <a:pPr>
              <a:spcBef>
                <a:spcPts val="10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•  Respect investigator gaps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“Could not determine” = no bound was found = value is unbounded.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E2AF"/>
                </a:solidFill>
                <a:latin typeface="Segoe UI"/>
              </a:defRPr>
            </a:pPr>
            <a:r>
              <a:t>Design Rationale</a:t>
            </a:r>
          </a:p>
          <a:p>
            <a:pPr>
              <a:spcBef>
                <a:spcPts val="1200"/>
              </a:spcBef>
              <a:defRPr sz="1600" b="1">
                <a:solidFill>
                  <a:srgbClr val="FAB387"/>
                </a:solidFill>
                <a:latin typeface="Segoe UI"/>
              </a:defRPr>
            </a:pPr>
            <a:r>
              <a:t>Security context restored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Unlike the investigator, the synthesizer needs to understand exploitability, guard effectiveness, and vulnerability classes. It’s the ONLY phase that renders a security judgment.</a:t>
            </a:r>
          </a:p>
          <a:p>
            <a:pPr>
              <a:spcBef>
                <a:spcPts val="1200"/>
              </a:spcBef>
              <a:defRPr sz="1600" b="1">
                <a:solidFill>
                  <a:srgbClr val="FAB387"/>
                </a:solidFill>
                <a:latin typeface="Segoe UI"/>
              </a:defRPr>
            </a:pPr>
            <a:r>
              <a:t>Evidence-only reasoning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No tools means no opportunity to go off-script. The synthesizer can only work with what investigators found — this prevents it from doing its own ad-hoc investigation and contradicting leads.</a:t>
            </a:r>
          </a:p>
          <a:p>
            <a:pPr>
              <a:spcBef>
                <a:spcPts val="1200"/>
              </a:spcBef>
              <a:defRPr sz="1600" b="1">
                <a:solidFill>
                  <a:srgbClr val="FAB387"/>
                </a:solidFill>
                <a:latin typeface="Segoe UI"/>
              </a:defRPr>
            </a:pPr>
            <a:r>
              <a:t>Structured output format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Forcing Evidence Summary → Data Flow → Guard Assessment → Verdict ensures the LLM shows its work. Each step is auditable and the verdict must follow logically from the prior sections.</a:t>
            </a:r>
          </a:p>
          <a:p>
            <a:pPr>
              <a:spcBef>
                <a:spcPts val="1200"/>
              </a:spcBef>
              <a:defRPr sz="1600" b="1">
                <a:solidFill>
                  <a:srgbClr val="FAB387"/>
                </a:solidFill>
                <a:latin typeface="Segoe UI"/>
              </a:defRPr>
            </a:pPr>
            <a:r>
              <a:t>Absence = unbounded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LLMs tend to assume safety when evidence is missing. The prompt flips this: if an investigator couldn’t find a bound, the value is treated as unbounded. This prevents optimistic hallucination.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The Lead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Each lead is a focused, self-contained investigation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029200" cy="411480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A6E3A1"/>
                </a:solidFill>
                <a:latin typeface="Cascadia Code"/>
              </a:defRPr>
            </a:pPr>
            <a:r>
              <a:t>{</a:t>
            </a:r>
            <a:br/>
            <a:r>
              <a:t>  "question": "What values can GetSize() return</a:t>
            </a:r>
            <a:br/>
            <a:r>
              <a:t>               when the file is empty?",</a:t>
            </a:r>
            <a:br/>
            <a:r>
              <a:t>  "why": "GetSize is used as array index at line 47.</a:t>
            </a:r>
            <a:br/>
            <a:r>
              <a:t>          Negative return → out-of-bounds access.",</a:t>
            </a:r>
            <a:br/>
            <a:r>
              <a:t>  "evaluate": "Return-value range of GetSize()",</a:t>
            </a:r>
            <a:br/>
            <a:r>
              <a:t>  "lines": [42, 47, 51],</a:t>
            </a:r>
            <a:br/>
            <a:r>
              <a:t>  "tools": [</a:t>
            </a:r>
            <a:br/>
            <a:r>
              <a:t>    {"tool": "get_function_code",</a:t>
            </a:r>
            <a:br/>
            <a:r>
              <a:t>     "args": {"name": "GetSize", "file": "file.cpp"}}</a:t>
            </a:r>
            <a:br/>
            <a:r>
              <a:t>  ]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371600"/>
            <a:ext cx="5486400" cy="423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Segoe UI"/>
              </a:defRPr>
            </a:pPr>
            <a:r>
              <a:rPr dirty="0"/>
              <a:t>Lead Structure</a:t>
            </a:r>
          </a:p>
          <a:p>
            <a:pPr>
              <a:spcBef>
                <a:spcPts val="1400"/>
              </a:spcBef>
              <a:defRPr sz="1800" b="1">
                <a:solidFill>
                  <a:srgbClr val="CBA6F7"/>
                </a:solidFill>
                <a:latin typeface="Cascadia Code"/>
              </a:defRPr>
            </a:pPr>
            <a:r>
              <a:rPr dirty="0"/>
              <a:t>  question</a:t>
            </a:r>
          </a:p>
          <a:p>
            <a:pPr>
              <a:spcBef>
                <a:spcPts val="4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 The single question this lead must answer</a:t>
            </a:r>
          </a:p>
          <a:p>
            <a:pPr>
              <a:spcBef>
                <a:spcPts val="1400"/>
              </a:spcBef>
              <a:defRPr sz="1800" b="1">
                <a:solidFill>
                  <a:srgbClr val="FAB387"/>
                </a:solidFill>
                <a:latin typeface="Cascadia Code"/>
              </a:defRPr>
            </a:pPr>
            <a:r>
              <a:rPr dirty="0"/>
              <a:t>  why</a:t>
            </a:r>
          </a:p>
          <a:p>
            <a:pPr>
              <a:spcBef>
                <a:spcPts val="4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 Why it matters for the verdict</a:t>
            </a:r>
            <a:r>
              <a:rPr lang="en-US" dirty="0"/>
              <a:t> (for synthesizer only)</a:t>
            </a:r>
            <a:endParaRPr dirty="0"/>
          </a:p>
          <a:p>
            <a:pPr>
              <a:spcBef>
                <a:spcPts val="1400"/>
              </a:spcBef>
              <a:defRPr sz="1800" b="1">
                <a:solidFill>
                  <a:srgbClr val="94E2D5"/>
                </a:solidFill>
                <a:latin typeface="Cascadia Code"/>
              </a:defRPr>
            </a:pPr>
            <a:r>
              <a:rPr dirty="0"/>
              <a:t>  evaluate</a:t>
            </a:r>
          </a:p>
          <a:p>
            <a:pPr>
              <a:spcBef>
                <a:spcPts val="4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 What observable property to extract</a:t>
            </a:r>
          </a:p>
          <a:p>
            <a:pPr>
              <a:spcBef>
                <a:spcPts val="1400"/>
              </a:spcBef>
              <a:defRPr sz="1800" b="1">
                <a:solidFill>
                  <a:srgbClr val="CDD6F4"/>
                </a:solidFill>
                <a:latin typeface="Cascadia Code"/>
              </a:defRPr>
            </a:pPr>
            <a:r>
              <a:rPr dirty="0"/>
              <a:t>  lines</a:t>
            </a:r>
          </a:p>
          <a:p>
            <a:pPr>
              <a:spcBef>
                <a:spcPts val="4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 Source lines the planner identified as relevant</a:t>
            </a:r>
          </a:p>
          <a:p>
            <a:pPr>
              <a:spcBef>
                <a:spcPts val="1400"/>
              </a:spcBef>
              <a:defRPr sz="1800" b="1">
                <a:solidFill>
                  <a:srgbClr val="A6E3A1"/>
                </a:solidFill>
                <a:latin typeface="Cascadia Code"/>
              </a:defRPr>
            </a:pPr>
            <a:r>
              <a:rPr dirty="0"/>
              <a:t>  tools</a:t>
            </a:r>
          </a:p>
          <a:p>
            <a:pPr>
              <a:spcBef>
                <a:spcPts val="4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 Seed tools — auto-called before the LLM sees the 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086"/>
                </a:solidFill>
                <a:latin typeface="Cascadia Code"/>
              </a:defRPr>
            </a:pPr>
            <a:r>
              <a:t>Planner generates 2–4 leads per alert  │  Each lead runs independently with its own tool budget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Old Mode vs. Orchestrated Mode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Old Mode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Orchestrated Mode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Control Flow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LLM decides tools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Python orchestrates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Parallelization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None (sequential rounds)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Leads run in parallel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Tool Deduplication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No (LLM may repeat)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Global cache (tool+args)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Drift Prevention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High risk (LLM diverges)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Low (leads pre-planned)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Dead-End Handling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LLM explores all paths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Auto-stop after 6 failures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Debugging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One big conversation log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Versioned per-lead outputs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Guard Discovery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Buried in reasoning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Explicit planner lead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Replay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Not supported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Replay lead / synthesize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Replay &amp; Debugging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Each phase produces versioned output files — re-run any phase independently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03520" cy="320040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400">
                <a:solidFill>
                  <a:srgbClr val="A6E3A1"/>
                </a:solidFill>
                <a:latin typeface="Cascadia Code"/>
              </a:defRPr>
            </a:pPr>
            <a:r>
              <a:t>output/results_orchestrated/c/{CID}/run_001/</a:t>
            </a:r>
            <a:br/>
            <a:r>
              <a:t>├─ 1_plan_final.json       (lead definitions)</a:t>
            </a:r>
            <a:br/>
            <a:r>
              <a:t>├─ 2_initial_code.json     (extracted source)</a:t>
            </a:r>
            <a:br/>
            <a:r>
              <a:t>├─ 2_1_final.json          (Lead 1 findings)</a:t>
            </a:r>
            <a:br/>
            <a:r>
              <a:t>├─ 2_2_final.json          (Lead 2 findings)</a:t>
            </a:r>
            <a:br/>
            <a:r>
              <a:t>├─ 2_3_final.json          (Lead 3 findings)</a:t>
            </a:r>
            <a:br/>
            <a:r>
              <a:t>├─ 3_synthesize_final.json (verdict + evidence)</a:t>
            </a:r>
            <a:br/>
            <a:r>
              <a:t>├─ run_summary.json        (cost, tokens, timing)</a:t>
            </a:r>
            <a:br/>
            <a:r>
              <a:t>└─ run_report.md           (human-readable report)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Segoe UI"/>
              </a:defRPr>
            </a:pPr>
            <a:r>
              <a:t>Replay Modes</a:t>
            </a:r>
          </a:p>
          <a:p>
            <a:pPr>
              <a:spcBef>
                <a:spcPts val="1400"/>
              </a:spcBef>
              <a:defRPr sz="1600" b="1">
                <a:solidFill>
                  <a:srgbClr val="CBA6F7"/>
                </a:solidFill>
                <a:latin typeface="Cascadia Code"/>
              </a:defRPr>
            </a:pPr>
            <a:r>
              <a:t>  plan_only=True</a:t>
            </a:r>
          </a:p>
          <a:p>
            <a:pPr>
              <a:spcBef>
                <a:spcPts val="4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 Run only the planner — inspect leads before committing to investigation</a:t>
            </a:r>
          </a:p>
          <a:p>
            <a:pPr>
              <a:spcBef>
                <a:spcPts val="1400"/>
              </a:spcBef>
              <a:defRPr sz="1600" b="1">
                <a:solidFill>
                  <a:srgbClr val="CBA6F7"/>
                </a:solidFill>
                <a:latin typeface="Cascadia Code"/>
              </a:defRPr>
            </a:pPr>
            <a:r>
              <a:t>  plan_file=‘...’</a:t>
            </a:r>
          </a:p>
          <a:p>
            <a:pPr>
              <a:spcBef>
                <a:spcPts val="4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 Load a saved plan and re-run investigation from it (skip Phase 1)</a:t>
            </a:r>
          </a:p>
          <a:p>
            <a:pPr>
              <a:spcBef>
                <a:spcPts val="1400"/>
              </a:spcBef>
              <a:defRPr sz="1600" b="1">
                <a:solidFill>
                  <a:srgbClr val="CBA6F7"/>
                </a:solidFill>
                <a:latin typeface="Cascadia Code"/>
              </a:defRPr>
            </a:pPr>
            <a:r>
              <a:t>  replay_lead=‘1’</a:t>
            </a:r>
          </a:p>
          <a:p>
            <a:pPr>
              <a:spcBef>
                <a:spcPts val="4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 Re-investigate a single lead with new settings.</a:t>
            </a:r>
            <a:br/>
            <a:r>
              <a:t>Creates versioned output (2_1_v2_final.json) — never overwrites.</a:t>
            </a:r>
          </a:p>
          <a:p>
            <a:pPr>
              <a:spcBef>
                <a:spcPts val="1400"/>
              </a:spcBef>
              <a:defRPr sz="1600" b="1">
                <a:solidFill>
                  <a:srgbClr val="CBA6F7"/>
                </a:solidFill>
                <a:latin typeface="Cascadia Code"/>
              </a:defRPr>
            </a:pPr>
            <a:r>
              <a:t>  replay_synthesize=True</a:t>
            </a:r>
          </a:p>
          <a:p>
            <a:pPr>
              <a:spcBef>
                <a:spcPts val="4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 Re-synthesize verdict from existing lead findings.</a:t>
            </a:r>
            <a:br/>
            <a:r>
              <a:t>Useful for testing synthesizer prompt changes.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9E2AF"/>
                </a:solidFill>
                <a:latin typeface="Segoe UI"/>
              </a:defRPr>
            </a:pPr>
            <a:r>
              <a:t>Replay enables surgical debugging: re-run only the phase that failed without re-running the whole pipeline.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Efficiency — Speed &amp; Cost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Selected CIDs comparing old-mode runs to orchestrated mode (b12 batch)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9326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CID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Old Duration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New Duration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Δ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Old Cost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New Cost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Δ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27528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837 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77 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−91%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$0.47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$0.11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−77%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15518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1,686 s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312 s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−82%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$0.69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$0.43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−38%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19309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1,347 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686 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−49%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$0.61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$0.49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−20%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Segoe UI"/>
              </a:defRPr>
            </a:pPr>
            <a:r>
              <a:t>Average Phase Duration (b12)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4846320"/>
          <a:ext cx="4572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Avg Duration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% of Total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CBA6F7"/>
                          </a:solidFill>
                          <a:latin typeface="Cascadia Code"/>
                        </a:defRPr>
                      </a:pPr>
                      <a:r>
                        <a:t>Plan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44 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94E2D5"/>
                          </a:solidFill>
                          <a:latin typeface="Cascadia Code"/>
                        </a:defRPr>
                      </a:pPr>
                      <a:r>
                        <a:t>Investigate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89 s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Synthesize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35 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Segoe UI"/>
              </a:defRPr>
            </a:pPr>
            <a:r>
              <a:t>b12 Batch Metrics</a:t>
            </a:r>
          </a:p>
          <a:p>
            <a:pPr>
              <a:spcBef>
                <a:spcPts val="1000"/>
              </a:spcBef>
              <a:defRPr sz="1600" b="0">
                <a:solidFill>
                  <a:srgbClr val="CDD6F4"/>
                </a:solidFill>
                <a:latin typeface="Cascadia Code"/>
              </a:defRPr>
            </a:pPr>
            <a:r>
              <a:t>  Avg cost per CID:  $0.19</a:t>
            </a:r>
          </a:p>
          <a:p>
            <a:pPr>
              <a:spcBef>
                <a:spcPts val="1000"/>
              </a:spcBef>
              <a:defRPr sz="1600" b="0">
                <a:solidFill>
                  <a:srgbClr val="CDD6F4"/>
                </a:solidFill>
                <a:latin typeface="Cascadia Code"/>
              </a:defRPr>
            </a:pPr>
            <a:r>
              <a:t>  Tool hit rate:  90% (140/155)</a:t>
            </a:r>
          </a:p>
          <a:p>
            <a:pPr>
              <a:spcBef>
                <a:spcPts val="1000"/>
              </a:spcBef>
              <a:defRPr sz="1600" b="0">
                <a:solidFill>
                  <a:srgbClr val="CDD6F4"/>
                </a:solidFill>
                <a:latin typeface="Cascadia Code"/>
              </a:defRPr>
            </a:pPr>
            <a:r>
              <a:t>  Avg leads per CID:  3.1  (range 2–4)</a:t>
            </a:r>
          </a:p>
          <a:p>
            <a:pPr>
              <a:spcBef>
                <a:spcPts val="1000"/>
              </a:spcBef>
              <a:defRPr sz="1600" b="0">
                <a:solidFill>
                  <a:srgbClr val="CDD6F4"/>
                </a:solidFill>
                <a:latin typeface="Cascadia Code"/>
              </a:defRPr>
            </a:pPr>
            <a:r>
              <a:t>  Total tokens:  977,532</a:t>
            </a:r>
          </a:p>
          <a:p>
            <a:pPr>
              <a:spcBef>
                <a:spcPts val="1000"/>
              </a:spcBef>
              <a:defRPr sz="1600" b="0">
                <a:solidFill>
                  <a:srgbClr val="CDD6F4"/>
                </a:solidFill>
                <a:latin typeface="Cascadia Code"/>
              </a:defRPr>
            </a:pPr>
            <a:r>
              <a:t>  Avg tokens per CID:  ~51k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Accuracy — Batch b12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19 CIDs analyzed  │  compared against human expert ground truth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200400" cy="2286000"/>
          </a:xfrm>
          <a:prstGeom prst="roundRect">
            <a:avLst/>
          </a:prstGeom>
          <a:solidFill>
            <a:srgbClr val="2A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A6E3A1"/>
                </a:solidFill>
                <a:latin typeface="Segoe UI"/>
              </a:defRPr>
            </a:pPr>
            <a:r>
              <a:rPr lang="en-US" dirty="0"/>
              <a:t>*94</a:t>
            </a:r>
            <a:r>
              <a:rPr dirty="0"/>
              <a:t>%</a:t>
            </a:r>
            <a:br>
              <a:rPr dirty="0"/>
            </a:br>
            <a:r>
              <a:rPr dirty="0"/>
              <a:t>Accuracy</a:t>
            </a:r>
            <a:br>
              <a:rPr dirty="0"/>
            </a:br>
            <a:r>
              <a:rPr dirty="0"/>
              <a:t>(1</a:t>
            </a:r>
            <a:r>
              <a:rPr lang="en-US" dirty="0"/>
              <a:t>6</a:t>
            </a:r>
            <a:r>
              <a:rPr dirty="0"/>
              <a:t>/17 agree with human)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45920"/>
            <a:ext cx="6400800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9B4FA"/>
                </a:solidFill>
                <a:latin typeface="Segoe UI"/>
              </a:defRPr>
            </a:pPr>
            <a:r>
              <a:rPr dirty="0"/>
              <a:t>Breakdown</a:t>
            </a:r>
          </a:p>
          <a:p>
            <a:pPr>
              <a:spcBef>
                <a:spcPts val="1400"/>
              </a:spcBef>
              <a:defRPr sz="1800" b="0">
                <a:solidFill>
                  <a:srgbClr val="A6E3A1"/>
                </a:solidFill>
                <a:latin typeface="Segoe UI"/>
              </a:defRPr>
            </a:pPr>
            <a:r>
              <a:rPr dirty="0"/>
              <a:t>  15 CIDs  —  Correct — agree with human verdict</a:t>
            </a:r>
          </a:p>
          <a:p>
            <a:pPr>
              <a:spcBef>
                <a:spcPts val="1400"/>
              </a:spcBef>
              <a:defRPr sz="1800" b="0">
                <a:solidFill>
                  <a:srgbClr val="FAB387"/>
                </a:solidFill>
                <a:latin typeface="Segoe UI"/>
              </a:defRPr>
            </a:pPr>
            <a:r>
              <a:rPr dirty="0"/>
              <a:t>  </a:t>
            </a:r>
            <a:r>
              <a:rPr lang="en-US" dirty="0"/>
              <a:t>1</a:t>
            </a:r>
            <a:r>
              <a:rPr dirty="0"/>
              <a:t> CID  —  Disagreement — LLM vs. human differ</a:t>
            </a:r>
          </a:p>
          <a:p>
            <a:pPr>
              <a:spcBef>
                <a:spcPts val="1400"/>
              </a:spcBef>
              <a:defRPr sz="1800" b="0">
                <a:solidFill>
                  <a:srgbClr val="6C7086"/>
                </a:solidFill>
                <a:latin typeface="Segoe UI"/>
              </a:defRPr>
            </a:pPr>
            <a:r>
              <a:rPr dirty="0"/>
              <a:t>  </a:t>
            </a:r>
            <a:r>
              <a:rPr dirty="0">
                <a:solidFill>
                  <a:srgbClr val="AEB0BE"/>
                </a:solidFill>
              </a:rPr>
              <a:t>2 CIDs  —  NMD — insufficient data to decide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Segoe UI"/>
              </a:defRPr>
            </a:pPr>
            <a:r>
              <a:t>Disagreements &amp; Known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10972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DD6F4"/>
                </a:solidFill>
                <a:latin typeface="Segoe UI"/>
              </a:defRPr>
            </a:pPr>
            <a:endParaRPr dirty="0"/>
          </a:p>
          <a:p>
            <a:pPr>
              <a:spcBef>
                <a:spcPts val="800"/>
              </a:spcBef>
              <a:defRPr sz="1500" b="1">
                <a:solidFill>
                  <a:srgbClr val="F9E2AF"/>
                </a:solidFill>
                <a:latin typeface="Cascadia Code"/>
              </a:defRPr>
            </a:pPr>
            <a:r>
              <a:rPr dirty="0"/>
              <a:t>  CID 27746  (persistent</a:t>
            </a:r>
            <a:r>
              <a:rPr lang="en-US" dirty="0"/>
              <a:t> FP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 </a:t>
            </a:r>
            <a:r>
              <a:rPr dirty="0" err="1"/>
              <a:t>strncpy</a:t>
            </a:r>
            <a:r>
              <a:rPr dirty="0"/>
              <a:t> to 8-byte field passed to </a:t>
            </a:r>
            <a:r>
              <a:rPr dirty="0" err="1"/>
              <a:t>DeviceIoControl</a:t>
            </a:r>
            <a:r>
              <a:rPr dirty="0"/>
              <a:t>. Planner never asked about downstream buffer consumption by SDK.</a:t>
            </a:r>
          </a:p>
          <a:p>
            <a:pPr>
              <a:spcBef>
                <a:spcPts val="800"/>
              </a:spcBef>
              <a:defRPr sz="1500" b="1">
                <a:solidFill>
                  <a:srgbClr val="F9E2AF"/>
                </a:solidFill>
                <a:latin typeface="Cascadia Code"/>
              </a:defRPr>
            </a:pPr>
            <a:r>
              <a:rPr dirty="0"/>
              <a:t>  CID 27724  (fixed</a:t>
            </a:r>
            <a:r>
              <a:rPr lang="en-US" dirty="0"/>
              <a:t> FP</a:t>
            </a:r>
            <a:r>
              <a:rPr dirty="0"/>
              <a:t> in run_008)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 Missed !</a:t>
            </a:r>
            <a:r>
              <a:rPr dirty="0" err="1"/>
              <a:t>pFile.IsValid</a:t>
            </a:r>
            <a:r>
              <a:rPr dirty="0"/>
              <a:t>() guard at call site. Fixed via planner prompt update — now generates explicit guard lead.</a:t>
            </a:r>
          </a:p>
          <a:p>
            <a:pPr>
              <a:spcBef>
                <a:spcPts val="800"/>
              </a:spcBef>
              <a:defRPr sz="1500" b="1">
                <a:solidFill>
                  <a:srgbClr val="F9E2AF"/>
                </a:solidFill>
                <a:latin typeface="Cascadia Code"/>
              </a:defRPr>
            </a:pPr>
            <a:r>
              <a:rPr dirty="0"/>
              <a:t>  CID 22293 / 23745  (NMD)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 Involve constant relationships (LOCAL_CLIENT_COUNT ≤ STATIC_MAX_LOCAL_CLIENTS). Database couldn’t resolve one constant.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defRPr sz="2000" b="1">
                <a:solidFill>
                  <a:srgbClr val="A6E3A1"/>
                </a:solidFill>
                <a:latin typeface="Segoe UI"/>
              </a:defRPr>
            </a:pPr>
            <a:r>
              <a:t>✅  Structured decomposition</a:t>
            </a:r>
          </a:p>
          <a:p>
            <a:pPr>
              <a:spcBef>
                <a:spcPts val="200"/>
              </a:spcBef>
              <a:defRPr sz="1600">
                <a:solidFill>
                  <a:srgbClr val="CDD6F4"/>
                </a:solidFill>
                <a:latin typeface="Segoe UI"/>
              </a:defRPr>
            </a:pPr>
            <a:r>
              <a:t>    The planner breaks complex alerts into 2–4 focused leads, preventing the LLM from drifting or getting stuck.</a:t>
            </a:r>
          </a:p>
          <a:p>
            <a:pPr>
              <a:spcBef>
                <a:spcPts val="1200"/>
              </a:spcBef>
              <a:defRPr sz="2000" b="1">
                <a:solidFill>
                  <a:srgbClr val="A6E3A1"/>
                </a:solidFill>
                <a:latin typeface="Segoe UI"/>
              </a:defRPr>
            </a:pPr>
            <a:r>
              <a:t>✅  Python-orchestrated control</a:t>
            </a:r>
          </a:p>
          <a:p>
            <a:pPr>
              <a:spcBef>
                <a:spcPts val="200"/>
              </a:spcBef>
              <a:defRPr sz="1600">
                <a:solidFill>
                  <a:srgbClr val="CDD6F4"/>
                </a:solidFill>
                <a:latin typeface="Segoe UI"/>
              </a:defRPr>
            </a:pPr>
            <a:r>
              <a:t>    Tool calling, caching, and budgets are managed by Python — the LLM answers questions, it doesn’t drive the process.</a:t>
            </a:r>
          </a:p>
          <a:p>
            <a:pPr>
              <a:spcBef>
                <a:spcPts val="1200"/>
              </a:spcBef>
              <a:defRPr sz="2000" b="1">
                <a:solidFill>
                  <a:srgbClr val="A6E3A1"/>
                </a:solidFill>
                <a:latin typeface="Segoe UI"/>
              </a:defRPr>
            </a:pPr>
            <a:r>
              <a:t>✅  Parallel investigation</a:t>
            </a:r>
          </a:p>
          <a:p>
            <a:pPr>
              <a:spcBef>
                <a:spcPts val="200"/>
              </a:spcBef>
              <a:defRPr sz="1600">
                <a:solidFill>
                  <a:srgbClr val="CDD6F4"/>
                </a:solidFill>
                <a:latin typeface="Segoe UI"/>
              </a:defRPr>
            </a:pPr>
            <a:r>
              <a:t>    Independent leads execute concurrently via ThreadPoolExecutor, reducing wall-clock time for multi-lead cases.</a:t>
            </a:r>
          </a:p>
          <a:p>
            <a:pPr>
              <a:spcBef>
                <a:spcPts val="1200"/>
              </a:spcBef>
              <a:defRPr sz="2000" b="1">
                <a:solidFill>
                  <a:srgbClr val="A6E3A1"/>
                </a:solidFill>
                <a:latin typeface="Segoe UI"/>
              </a:defRPr>
            </a:pPr>
            <a:r>
              <a:t>✅  Surgical replay &amp; debugging</a:t>
            </a:r>
          </a:p>
          <a:p>
            <a:pPr>
              <a:spcBef>
                <a:spcPts val="200"/>
              </a:spcBef>
              <a:defRPr sz="1600">
                <a:solidFill>
                  <a:srgbClr val="CDD6F4"/>
                </a:solidFill>
                <a:latin typeface="Segoe UI"/>
              </a:defRPr>
            </a:pPr>
            <a:r>
              <a:t>    Each phase produces versioned artifacts. Re-run a single lead or re-synthesize without re-running the whole pipeline.</a:t>
            </a:r>
          </a:p>
          <a:p>
            <a:pPr>
              <a:spcBef>
                <a:spcPts val="1200"/>
              </a:spcBef>
              <a:defRPr sz="2000" b="1">
                <a:solidFill>
                  <a:srgbClr val="A6E3A1"/>
                </a:solidFill>
                <a:latin typeface="Segoe UI"/>
              </a:defRPr>
            </a:pPr>
            <a:r>
              <a:t>✅  Guard-aware planning</a:t>
            </a:r>
          </a:p>
          <a:p>
            <a:pPr>
              <a:spcBef>
                <a:spcPts val="200"/>
              </a:spcBef>
              <a:defRPr sz="1600">
                <a:solidFill>
                  <a:srgbClr val="CDD6F4"/>
                </a:solidFill>
                <a:latin typeface="Segoe UI"/>
              </a:defRPr>
            </a:pPr>
            <a:r>
              <a:t>    Planner explicitly generates leads for call-site guards, addressing the most common source of missed FPs.</a:t>
            </a:r>
          </a:p>
          <a:p>
            <a:pPr>
              <a:spcBef>
                <a:spcPts val="1200"/>
              </a:spcBef>
              <a:defRPr sz="2000" b="1">
                <a:solidFill>
                  <a:srgbClr val="A6E3A1"/>
                </a:solidFill>
                <a:latin typeface="Segoe UI"/>
              </a:defRPr>
            </a:pPr>
            <a:r>
              <a:t>✅  Cost efficiency</a:t>
            </a:r>
          </a:p>
          <a:p>
            <a:pPr>
              <a:spcBef>
                <a:spcPts val="200"/>
              </a:spcBef>
              <a:defRPr sz="1600">
                <a:solidFill>
                  <a:srgbClr val="CDD6F4"/>
                </a:solidFill>
                <a:latin typeface="Segoe UI"/>
              </a:defRPr>
            </a:pPr>
            <a:r>
              <a:t>    Tool caching + focused questions + early termination yield lower cost per CID while maintaining 88%+ accuracy.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Data Layer — Closing Coverage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CodeQL’s type model has blind spots that cause the LLM to waste tool calls on missing lookups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AB387"/>
                </a:solidFill>
                <a:latin typeface="Segoe UI"/>
              </a:defRPr>
            </a:pPr>
            <a:r>
              <a:t>What Was Missing</a:t>
            </a:r>
          </a:p>
          <a:p>
            <a:pPr>
              <a:spcBef>
                <a:spcPts val="1400"/>
              </a:spcBef>
              <a:defRPr sz="1700" b="1">
                <a:solidFill>
                  <a:srgbClr val="FAB387"/>
                </a:solidFill>
                <a:latin typeface="Segoe UI"/>
              </a:defRPr>
            </a:pPr>
            <a:r>
              <a:t>⚠  Enums invisible</a:t>
            </a:r>
          </a:p>
          <a:p>
            <a:pPr>
              <a:spcBef>
                <a:spcPts val="3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C++11 scoped enums (enum class) aren’t covered by CodeQL’s NameQualifyingElement. get_class() returned “not found” for every enum, forcing the LLM to burn tool calls searching.</a:t>
            </a:r>
          </a:p>
          <a:p>
            <a:pPr>
              <a:spcBef>
                <a:spcPts val="1400"/>
              </a:spcBef>
              <a:defRPr sz="1700" b="1">
                <a:solidFill>
                  <a:srgbClr val="FAB387"/>
                </a:solidFill>
                <a:latin typeface="Segoe UI"/>
              </a:defRPr>
            </a:pPr>
            <a:r>
              <a:t>⚠  Typedefs invisible</a:t>
            </a:r>
          </a:p>
          <a:p>
            <a:pPr>
              <a:spcBef>
                <a:spcPts val="3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typedef and using aliases (TypedefType) also fall outside NameQualifyingElement. CID 15518 wasted 15 tool calls (60% of the budget) trying every tool to find StLayerMaskOMPV.</a:t>
            </a:r>
          </a:p>
          <a:p>
            <a:pPr>
              <a:spcBef>
                <a:spcPts val="1400"/>
              </a:spcBef>
              <a:defRPr sz="1700" b="1">
                <a:solidFill>
                  <a:srgbClr val="FAB387"/>
                </a:solidFill>
                <a:latin typeface="Segoe UI"/>
              </a:defRPr>
            </a:pPr>
            <a:r>
              <a:t>⚠  Macro vs. global guessing</a:t>
            </a:r>
          </a:p>
          <a:p>
            <a:pPr>
              <a:spcBef>
                <a:spcPts val="3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The LLM had separate get_macro and get_global_var tools but couldn’t tell which one a name was — so it guessed, often wrong, burning a call before trying the other.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9B4FA"/>
                </a:solidFill>
                <a:latin typeface="Segoe UI"/>
              </a:defRPr>
            </a:pPr>
            <a:r>
              <a:t>Impact on Analysis</a:t>
            </a:r>
          </a:p>
          <a:p>
            <a:pPr>
              <a:spcBef>
                <a:spcPts val="12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•  Wasted tool budget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Each failed lookup costs a tool call. With a 12-call follow-up budget per lead, missing lookups can exhaust the budget before answering the question.</a:t>
            </a:r>
          </a:p>
          <a:p>
            <a:pPr>
              <a:spcBef>
                <a:spcPts val="12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•  Incorrect conclusions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When the LLM can’t find a type definition, it may guess what the type does based on its name — exactly what the prompts forbid.</a:t>
            </a:r>
          </a:p>
          <a:p>
            <a:pPr>
              <a:spcBef>
                <a:spcPts val="12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•  Cascading failures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A missed enum or typedef often blocks downstream lookups (e.g., can’t find methods on a type you can’t resolve).</a:t>
            </a:r>
          </a:p>
          <a:p>
            <a:pPr>
              <a:spcBef>
                <a:spcPts val="12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•  Higher cost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More rounds, more tokens, more API calls — all for lookups that should have succeeded on the first try.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New Lookup CSVs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Two new CodeQL-generated CSVs fill the coverage gaps in get_class()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548640"/>
          </a:xfrm>
          <a:prstGeom prst="round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EnumLookup.csv — Enums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DD6F4"/>
                </a:solidFill>
                <a:latin typeface="Segoe UI"/>
              </a:defRPr>
            </a:pPr>
            <a:endParaRPr dirty="0"/>
          </a:p>
          <a:p>
            <a:pPr>
              <a:spcBef>
                <a:spcPts val="6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Problem:  </a:t>
            </a:r>
            <a:r>
              <a:rPr dirty="0" err="1"/>
              <a:t>enum</a:t>
            </a:r>
            <a:r>
              <a:rPr dirty="0"/>
              <a:t> class types invisible to </a:t>
            </a:r>
            <a:r>
              <a:rPr dirty="0" err="1"/>
              <a:t>Classes.ql</a:t>
            </a:r>
            <a:r>
              <a:rPr dirty="0"/>
              <a:t> (not a </a:t>
            </a:r>
            <a:r>
              <a:rPr dirty="0" err="1"/>
              <a:t>NameQualifyingElement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Solution:  New CodeQL query (</a:t>
            </a:r>
            <a:r>
              <a:rPr dirty="0" err="1"/>
              <a:t>EnumLookup.ql</a:t>
            </a:r>
            <a:r>
              <a:rPr dirty="0"/>
              <a:t>) + smart structural parser</a:t>
            </a:r>
          </a:p>
          <a:p>
            <a:pPr>
              <a:spcBef>
                <a:spcPts val="6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Smart parser:  Brace-matches from source to fix </a:t>
            </a:r>
            <a:r>
              <a:rPr dirty="0" err="1"/>
              <a:t>CodeQL’s</a:t>
            </a:r>
            <a:r>
              <a:rPr dirty="0"/>
              <a:t> broken end-lines. Filters forward declarations, macro </a:t>
            </a:r>
            <a:r>
              <a:rPr dirty="0" err="1"/>
              <a:t>enums</a:t>
            </a:r>
            <a:r>
              <a:rPr dirty="0"/>
              <a:t>, wrong-</a:t>
            </a:r>
            <a:r>
              <a:rPr dirty="0" err="1"/>
              <a:t>enum</a:t>
            </a:r>
            <a:r>
              <a:rPr dirty="0"/>
              <a:t> hits.</a:t>
            </a:r>
          </a:p>
          <a:p>
            <a:pPr>
              <a:spcBef>
                <a:spcPts val="6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Accuracy:  100% correct code extraction (vs 78% with naive brace-matching)</a:t>
            </a:r>
          </a:p>
          <a:p>
            <a:pPr>
              <a:spcBef>
                <a:spcPts val="6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Coverage:  10,760 unique </a:t>
            </a:r>
            <a:r>
              <a:rPr dirty="0" err="1"/>
              <a:t>enums</a:t>
            </a:r>
            <a:r>
              <a:rPr dirty="0"/>
              <a:t> with correct line spans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548640"/>
          </a:xfrm>
          <a:prstGeom prst="roundRect">
            <a:avLst/>
          </a:prstGeom>
          <a:solidFill>
            <a:srgbClr val="94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TypeAliasLookup.csv — typedef / using Aliases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194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DD6F4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Problem:  TypedefType falls outside NameQualifyingElement — all typedefs invisible</a:t>
            </a:r>
          </a:p>
          <a:p>
            <a:pPr>
              <a:spcBef>
                <a:spcPts val="6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Solution:  New CodeQL query (TypeAliasLookup.ql) + deduplication pipeline</a:t>
            </a:r>
          </a:p>
          <a:p>
            <a:pPr>
              <a:spcBef>
                <a:spcPts val="6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CodeQL gotchas:  matches() uses SQL LIKE (_ = wildcard); @kind problem corrupts multi-column output; getLocation() silently drops rows</a:t>
            </a:r>
          </a:p>
          <a:p>
            <a:pPr>
              <a:spcBef>
                <a:spcPts val="6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Deduplication:  554K raw rows → 280K (template filter) → 32,303 unique</a:t>
            </a:r>
          </a:p>
          <a:p>
            <a:pPr>
              <a:spcBef>
                <a:spcPts val="6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Coverage:  Both C-style (typedef int X) and C++11 (using X = int) aliases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E2AF"/>
                </a:solidFill>
                <a:latin typeface="Segoe UI"/>
              </a:defRPr>
            </a:pPr>
            <a:r>
              <a:t>get_class() now searches all three CSVs in order:  Classes.csv → EnumLookup.csv → TypeAliasLookup.csv</a:t>
            </a:r>
            <a:br/>
            <a:r>
              <a:t>Two-pass matching: exact first (prevents substring false hits), then fuzzy if nothing found.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Tool Merge — get_macro_or_global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Two separate tools consolidated into one — the LLM no longer has to guess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029200" cy="502920"/>
          </a:xfrm>
          <a:prstGeom prst="round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Before:  2 separate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DD6F4"/>
                </a:solidFill>
                <a:latin typeface="Segoe UI"/>
              </a:defRPr>
            </a:pPr>
            <a:endParaRPr/>
          </a:p>
          <a:p>
            <a:pPr>
              <a:spcBef>
                <a:spcPts val="5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•  get_macro(macro_name)  —  searches Macros.csv only</a:t>
            </a:r>
          </a:p>
          <a:p>
            <a:pPr>
              <a:spcBef>
                <a:spcPts val="5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•  get_global_var(global_var_name)  —  searches GlobalVars.csv only</a:t>
            </a:r>
          </a:p>
          <a:p>
            <a:pPr>
              <a:spcBef>
                <a:spcPts val="5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</a:t>
            </a:r>
          </a:p>
          <a:p>
            <a:pPr>
              <a:spcBef>
                <a:spcPts val="500"/>
              </a:spcBef>
              <a:defRPr sz="1400" b="0">
                <a:solidFill>
                  <a:srgbClr val="FAB387"/>
                </a:solidFill>
                <a:latin typeface="Segoe UI"/>
              </a:defRPr>
            </a:pPr>
            <a:r>
              <a:t>  ⚠  LLM sees MAX_PLAYERS in code but can’t tell if it’s a</a:t>
            </a:r>
          </a:p>
          <a:p>
            <a:pPr>
              <a:spcBef>
                <a:spcPts val="5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  #define or a const int  →  guesses one, fails, tries the other</a:t>
            </a:r>
          </a:p>
          <a:p>
            <a:pPr>
              <a:spcBef>
                <a:spcPts val="500"/>
              </a:spcBef>
              <a:defRPr sz="1400" b="0">
                <a:solidFill>
                  <a:srgbClr val="FAB387"/>
                </a:solidFill>
                <a:latin typeface="Segoe UI"/>
              </a:defRPr>
            </a:pPr>
            <a:r>
              <a:t>  ⚠  Two wasted tool calls for a single name lookup</a:t>
            </a:r>
          </a:p>
          <a:p>
            <a:pPr>
              <a:spcBef>
                <a:spcPts val="500"/>
              </a:spcBef>
              <a:defRPr sz="1400" b="0">
                <a:solidFill>
                  <a:srgbClr val="FAB387"/>
                </a:solidFill>
                <a:latin typeface="Segoe UI"/>
              </a:defRPr>
            </a:pPr>
            <a:r>
              <a:t>  ⚠  Misleading prompt guidance (“try get_global_var for typedefs”)</a:t>
            </a:r>
          </a:p>
          <a:p>
            <a:pPr>
              <a:spcBef>
                <a:spcPts val="5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  sent the LLM down a dead end  — global_var never finds typedefs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029200" cy="50292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After:  1 unified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DD6F4"/>
                </a:solidFill>
                <a:latin typeface="Segoe UI"/>
              </a:defRPr>
            </a:pPr>
            <a:endParaRPr/>
          </a:p>
          <a:p>
            <a:pPr>
              <a:spcBef>
                <a:spcPts val="5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•  get_macro_or_global(name)  —  tries Macros.csv first,</a:t>
            </a:r>
          </a:p>
          <a:p>
            <a:pPr>
              <a:spcBef>
                <a:spcPts val="5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  falls back to GlobalVars.csv automatically</a:t>
            </a:r>
          </a:p>
          <a:p>
            <a:pPr>
              <a:spcBef>
                <a:spcPts val="5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</a:t>
            </a:r>
          </a:p>
          <a:p>
            <a:pPr>
              <a:spcBef>
                <a:spcPts val="500"/>
              </a:spcBef>
              <a:defRPr sz="1400" b="0">
                <a:solidFill>
                  <a:srgbClr val="A6E3A1"/>
                </a:solidFill>
                <a:latin typeface="Segoe UI"/>
              </a:defRPr>
            </a:pPr>
            <a:r>
              <a:t>  ✅  One call resolves macros and globals alike</a:t>
            </a:r>
          </a:p>
          <a:p>
            <a:pPr>
              <a:spcBef>
                <a:spcPts val="500"/>
              </a:spcBef>
              <a:defRPr sz="1400" b="0">
                <a:solidFill>
                  <a:srgbClr val="A6E3A1"/>
                </a:solidFill>
                <a:latin typeface="Segoe UI"/>
              </a:defRPr>
            </a:pPr>
            <a:r>
              <a:t>  ✅  Response prefixed [macro] or [global_var] so LLM</a:t>
            </a:r>
          </a:p>
          <a:p>
            <a:pPr>
              <a:spcBef>
                <a:spcPts val="5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  knows which type it found</a:t>
            </a:r>
          </a:p>
          <a:p>
            <a:pPr>
              <a:spcBef>
                <a:spcPts val="500"/>
              </a:spcBef>
              <a:defRPr sz="1400" b="0">
                <a:solidFill>
                  <a:srgbClr val="A6E3A1"/>
                </a:solidFill>
                <a:latin typeface="Segoe UI"/>
              </a:defRPr>
            </a:pPr>
            <a:r>
              <a:t>  ✅  Backward compatible — old plans using get_macro or</a:t>
            </a:r>
          </a:p>
          <a:p>
            <a:pPr>
              <a:spcBef>
                <a:spcPts val="5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  get_global_var still work (mapped to unified tool)</a:t>
            </a:r>
          </a:p>
          <a:p>
            <a:pPr>
              <a:spcBef>
                <a:spcPts val="500"/>
              </a:spcBef>
              <a:defRPr sz="1400" b="0">
                <a:solidFill>
                  <a:srgbClr val="A6E3A1"/>
                </a:solidFill>
                <a:latin typeface="Segoe UI"/>
              </a:defRPr>
            </a:pPr>
            <a:r>
              <a:t>  ✅  Removed misleading “try get_global_var for typedefs”</a:t>
            </a:r>
          </a:p>
          <a:p>
            <a:pPr>
              <a:spcBef>
                <a:spcPts val="5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  guidance from prompts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E2AF"/>
                </a:solidFill>
                <a:latin typeface="Segoe UI"/>
              </a:defRPr>
            </a:pPr>
            <a:r>
              <a:t>Tool count:  5 → 4   (get_function_code, get_caller_function, get_class, get_macro_or_global)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Data Layer — Before vs. After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Before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After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Enum lookups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Not found (invisible to get_class)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10,760 enums in EnumLookup.csv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Typedef lookups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Not found (15 calls wasted)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32,303 aliases in TypeAliasLookup.csv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Macro / global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2 tools — LLM guesses which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1 unified get_macro_or_global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get_class() sources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Classes.csv only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Classes + Enum + TypeAlias (3 CSVs)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Matching strategy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Substring (false hits possible)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Exact-first, fuzzy fallback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Enum end-lines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Wrong (CodeQL: end = start)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Correct (smart brace-match parser)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Typedef dedup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554K → 32K (94% reduction)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Prompt guidance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Misleading (try get_global_var)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Removed; typedefs in get_class()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Development Journey — Before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The path from first contact with Vulnhalla to identifying the need for a new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457200" cy="457200"/>
          </a:xfrm>
          <a:prstGeom prst="round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BA6F7"/>
                </a:solidFill>
                <a:latin typeface="Segoe UI"/>
              </a:defRPr>
            </a:pPr>
            <a:r>
              <a:t>Get to Know Vulnhalla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DD6F4"/>
                </a:solidFill>
                <a:latin typeface="Segoe UI"/>
              </a:defRPr>
            </a:pPr>
            <a:r>
              <a:t>Run on stub C++ programs with known flaws. Fix Windows-specific bugs. Add logging for transparency.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457200" cy="457200"/>
          </a:xfrm>
          <a:prstGeom prst="roundRect">
            <a:avLst/>
          </a:prstGeom>
          <a:solidFill>
            <a:srgbClr val="94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393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4E2D5"/>
                </a:solidFill>
                <a:latin typeface="Segoe UI"/>
              </a:defRPr>
            </a:pPr>
            <a:r>
              <a:t>First Run on Coverity CoD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01052"/>
            <a:ext cx="426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Sync findings line numbers with 10/2025 CodeQL DB. Generate lookup CSVs. Fix FunctionTree.csv generation. Trim findings to those found in CSV. Add LLM usage guards.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29000"/>
            <a:ext cx="457200" cy="457200"/>
          </a:xfrm>
          <a:prstGeom prst="round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B387"/>
                </a:solidFill>
                <a:latin typeface="Segoe UI"/>
              </a:defRPr>
            </a:pPr>
            <a:r>
              <a:t>Enhance Vulnhalla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49039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DD6F4"/>
                </a:solidFill>
                <a:latin typeface="Segoe UI"/>
              </a:defRPr>
            </a:pPr>
            <a:r>
              <a:t>Create regression testing framework. Tune prompts: ignore assertions, prevent duplicate tool use, require tool-call justification, enforce known-facts grounding.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34840"/>
            <a:ext cx="457200" cy="457200"/>
          </a:xfrm>
          <a:prstGeom prst="round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389120"/>
            <a:ext cx="446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8BA8"/>
                </a:solidFill>
                <a:latin typeface="Segoe UI"/>
              </a:defRPr>
            </a:pPr>
            <a:r>
              <a:rPr dirty="0"/>
              <a:t>Fatal Flaw — Need State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754880"/>
            <a:ext cx="43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Single-conversation mode couldn’t manage evidence reliably. LLM drifted, repeated tools, lost track of established facts. Prompt tuning hit its ceiling.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440680"/>
            <a:ext cx="457200" cy="45720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394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  <a:latin typeface="Segoe UI"/>
              </a:defRPr>
            </a:pPr>
            <a:r>
              <a:t>Add Orchestrator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7607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DD6F4"/>
                </a:solidFill>
                <a:latin typeface="Segoe UI"/>
              </a:defRPr>
            </a:pPr>
            <a:r>
              <a:t>Decompose into Plan → Investigate → Synthesize. Python controls the process. LLM answers focused questions.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E2AF"/>
                </a:solidFill>
                <a:latin typeface="Segoe UI"/>
              </a:defRPr>
            </a:pPr>
            <a:r>
              <a:t>Key Lessons Along the Way</a:t>
            </a:r>
          </a:p>
          <a:p>
            <a:pPr>
              <a:spcBef>
                <a:spcPts val="1000"/>
              </a:spcBef>
              <a:defRPr sz="1500" b="1">
                <a:solidFill>
                  <a:srgbClr val="A6E3A1"/>
                </a:solidFill>
                <a:latin typeface="Segoe UI"/>
              </a:defRPr>
            </a:pPr>
            <a:r>
              <a:t>•  Assertions fooled the LLM</a:t>
            </a:r>
          </a:p>
          <a:p>
            <a:pPr>
              <a:spcBef>
                <a:spcPts val="200"/>
              </a:spcBef>
              <a:defRPr sz="1200" b="0">
                <a:solidFill>
                  <a:srgbClr val="CDD6F4"/>
                </a:solidFill>
                <a:latin typeface="Segoe UI"/>
              </a:defRPr>
            </a:pPr>
            <a:r>
              <a:t>   LLMs treat assert() as a real runtime guard. Without explicit instruction to ignore them, every assert looked like a valid bound check — leading to false FP verdicts.</a:t>
            </a:r>
          </a:p>
          <a:p>
            <a:pPr>
              <a:spcBef>
                <a:spcPts val="1000"/>
              </a:spcBef>
              <a:defRPr sz="1500" b="1">
                <a:solidFill>
                  <a:srgbClr val="A6E3A1"/>
                </a:solidFill>
                <a:latin typeface="Segoe UI"/>
              </a:defRPr>
            </a:pPr>
            <a:r>
              <a:t>•  Duplicate tool calls wasted budget</a:t>
            </a:r>
          </a:p>
          <a:p>
            <a:pPr>
              <a:spcBef>
                <a:spcPts val="200"/>
              </a:spcBef>
              <a:defRPr sz="1200" b="0">
                <a:solidFill>
                  <a:srgbClr val="CDD6F4"/>
                </a:solidFill>
                <a:latin typeface="Segoe UI"/>
              </a:defRPr>
            </a:pPr>
            <a:r>
              <a:t>   The LLM frequently re-requested the same function it had already looked up rounds earlier. No built-in memory across rounds.</a:t>
            </a:r>
          </a:p>
          <a:p>
            <a:pPr>
              <a:spcBef>
                <a:spcPts val="1000"/>
              </a:spcBef>
              <a:defRPr sz="1500" b="1">
                <a:solidFill>
                  <a:srgbClr val="A6E3A1"/>
                </a:solidFill>
                <a:latin typeface="Segoe UI"/>
              </a:defRPr>
            </a:pPr>
            <a:r>
              <a:t>•  Prompt tuning has a ceiling</a:t>
            </a:r>
          </a:p>
          <a:p>
            <a:pPr>
              <a:spcBef>
                <a:spcPts val="200"/>
              </a:spcBef>
              <a:defRPr sz="1200" b="0">
                <a:solidFill>
                  <a:srgbClr val="CDD6F4"/>
                </a:solidFill>
                <a:latin typeface="Segoe UI"/>
              </a:defRPr>
            </a:pPr>
            <a:r>
              <a:t>   Adding rules to the system prompt helped (ignore asserts, justify tool use, cite evidence) but couldn’t fix the structural problem: one long conversation with no decomposition.</a:t>
            </a:r>
          </a:p>
          <a:p>
            <a:pPr>
              <a:spcBef>
                <a:spcPts val="1000"/>
              </a:spcBef>
              <a:defRPr sz="1500" b="1">
                <a:solidFill>
                  <a:srgbClr val="A6E3A1"/>
                </a:solidFill>
                <a:latin typeface="Segoe UI"/>
              </a:defRPr>
            </a:pPr>
            <a:r>
              <a:t>•  State management was the blocker</a:t>
            </a:r>
          </a:p>
          <a:p>
            <a:pPr>
              <a:spcBef>
                <a:spcPts val="200"/>
              </a:spcBef>
              <a:defRPr sz="1200" b="0">
                <a:solidFill>
                  <a:srgbClr val="CDD6F4"/>
                </a:solidFill>
                <a:latin typeface="Segoe UI"/>
              </a:defRPr>
            </a:pPr>
            <a:r>
              <a:t>   Evidence tracking via sticky flags (MECHANISM, GUARDS, EXPLOITABILITY) was bolted on. The LLM still lost context in long conversations and contradicted its own earlier findings.</a:t>
            </a:r>
          </a:p>
          <a:p>
            <a:pPr>
              <a:spcBef>
                <a:spcPts val="1000"/>
              </a:spcBef>
              <a:defRPr sz="1500" b="1">
                <a:solidFill>
                  <a:srgbClr val="A6E3A1"/>
                </a:solidFill>
                <a:latin typeface="Segoe UI"/>
              </a:defRPr>
            </a:pPr>
            <a:r>
              <a:t>•  Orchestration solved the root cause</a:t>
            </a:r>
          </a:p>
          <a:p>
            <a:pPr>
              <a:spcBef>
                <a:spcPts val="200"/>
              </a:spcBef>
              <a:defRPr sz="1200" b="0">
                <a:solidFill>
                  <a:srgbClr val="CDD6F4"/>
                </a:solidFill>
                <a:latin typeface="Segoe UI"/>
              </a:defRPr>
            </a:pPr>
            <a:r>
              <a:t>   Splitting into 3 phases gave Python control over state, tool budgets, and evidence flow. The LLM’s job shrank from “drive the investigation” to “answer one question.”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57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rPr dirty="0"/>
              <a:t>Old Mode Prompt Tuning — What Worked &amp; What Didn’t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Iterative prompt improvements that carried forward into the orchestrator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6E3A1"/>
                </a:solidFill>
                <a:latin typeface="Segoe UI"/>
              </a:defRPr>
            </a:pPr>
            <a:r>
              <a:t>✅  Carried Forward</a:t>
            </a:r>
          </a:p>
          <a:p>
            <a:pPr>
              <a:spcBef>
                <a:spcPts val="10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  Assertions are NO-OPs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Explicitly telling the LLM that assert/core_assert compile to nothing in production. Applies transitively: if a guard’s limit is only bounded by an assert, the guard itself is broken.</a:t>
            </a:r>
          </a:p>
          <a:p>
            <a:pPr>
              <a:spcBef>
                <a:spcPts val="10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  Justify every tool call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Requiring a reason parameter before each tool request. Cuts speculative lookups. Became the “Can I answer now?” checklist in the investigator prompt.</a:t>
            </a:r>
          </a:p>
          <a:p>
            <a:pPr>
              <a:spcBef>
                <a:spcPts val="10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  Only look up visible names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LLMs invent function names based on conventions. Forcing tool args to appear in already-returned code eliminated hallucinated lookups.</a:t>
            </a:r>
          </a:p>
          <a:p>
            <a:pPr>
              <a:spcBef>
                <a:spcPts val="10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  Don’t infer from names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GetSize() doesn’t necessarily return a size. Ask about observable properties (return type, value range) instead of assuming.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AB387"/>
                </a:solidFill>
                <a:latin typeface="Segoe UI"/>
              </a:defRPr>
            </a:pPr>
            <a:r>
              <a:t>❌  Hit the Ceiling</a:t>
            </a:r>
          </a:p>
          <a:p>
            <a:pPr>
              <a:spcBef>
                <a:spcPts val="1000"/>
              </a:spcBef>
              <a:defRPr sz="1600" b="1">
                <a:solidFill>
                  <a:srgbClr val="FAB387"/>
                </a:solidFill>
                <a:latin typeface="Segoe UI"/>
              </a:defRPr>
            </a:pPr>
            <a:r>
              <a:t>  Evidence tracking via system messages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Injecting ESTABLISHED_EVIDENCE as a system message each round worked at first, but the LLM still contradicted prior findings in longer conversations. Evidence wasn’t “sticky” enough.</a:t>
            </a:r>
          </a:p>
          <a:p>
            <a:pPr>
              <a:spcBef>
                <a:spcPts val="1000"/>
              </a:spcBef>
              <a:defRPr sz="1600" b="1">
                <a:solidFill>
                  <a:srgbClr val="FAB387"/>
                </a:solidFill>
                <a:latin typeface="Segoe UI"/>
              </a:defRPr>
            </a:pPr>
            <a:r>
              <a:t>  Dead-end handling instructions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Telling the LLM to “exhaust all leads before concluding” didn’t prevent it from fixating on one path for many rounds while ignoring alternatives.</a:t>
            </a:r>
          </a:p>
          <a:p>
            <a:pPr>
              <a:spcBef>
                <a:spcPts val="1000"/>
              </a:spcBef>
              <a:defRPr sz="1600" b="1">
                <a:solidFill>
                  <a:srgbClr val="FAB387"/>
                </a:solidFill>
                <a:latin typeface="Segoe UI"/>
              </a:defRPr>
            </a:pPr>
            <a:r>
              <a:t>  Sufficiency flags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Tracking MECHANISM/GUARDS/EXPLOITABILITY as booleans forced premature “yes” answers. Once set, they couldn’t be revised when new contradicting evidence appeared.</a:t>
            </a:r>
          </a:p>
          <a:p>
            <a:pPr>
              <a:spcBef>
                <a:spcPts val="1000"/>
              </a:spcBef>
              <a:defRPr sz="1600" b="1">
                <a:solidFill>
                  <a:srgbClr val="FAB387"/>
                </a:solidFill>
                <a:latin typeface="Segoe UI"/>
              </a:defRPr>
            </a:pPr>
            <a:r>
              <a:t>  Single-conversation control flow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No amount of prompt tuning could fix the core issue: the LLM decided what to investigate and in what order. It needed structure imposed from outside.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E2AF"/>
                </a:solidFill>
                <a:latin typeface="Segoe UI"/>
              </a:defRPr>
            </a:pPr>
            <a:r>
              <a:t>The lessons that worked became the foundation of the orchestrator prompts. The ones that didn’t motivated the 3-phase architecture.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Next Steps — Road to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From prototype success to production-scale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3474720" cy="41148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⚡  Immediate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329184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DD6F4"/>
                </a:solidFill>
                <a:latin typeface="Segoe UI"/>
              </a:defRPr>
            </a:pPr>
            <a:endParaRPr dirty="0"/>
          </a:p>
          <a:p>
            <a:pPr>
              <a:spcBef>
                <a:spcPts val="1000"/>
              </a:spcBef>
              <a:defRPr sz="1400" b="1">
                <a:solidFill>
                  <a:srgbClr val="A6E3A1"/>
                </a:solidFill>
                <a:latin typeface="Segoe UI"/>
              </a:defRPr>
            </a:pPr>
            <a:r>
              <a:rPr dirty="0"/>
              <a:t>•  Process full CoD finding set</a:t>
            </a:r>
          </a:p>
          <a:p>
            <a:pPr>
              <a:spcBef>
                <a:spcPts val="200"/>
              </a:spcBef>
              <a:defRPr sz="12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Expand from 19-CID test batch to the complete backlog of Coverity findings.</a:t>
            </a:r>
          </a:p>
          <a:p>
            <a:pPr>
              <a:spcBef>
                <a:spcPts val="1000"/>
              </a:spcBef>
              <a:defRPr sz="1400" b="1">
                <a:solidFill>
                  <a:srgbClr val="A6E3A1"/>
                </a:solidFill>
                <a:latin typeface="Segoe UI"/>
              </a:defRPr>
            </a:pPr>
            <a:r>
              <a:rPr dirty="0"/>
              <a:t>•  Tune </a:t>
            </a:r>
            <a:r>
              <a:rPr lang="en-US" dirty="0"/>
              <a:t>prompts</a:t>
            </a:r>
            <a:r>
              <a:rPr dirty="0"/>
              <a:t> for edge cases</a:t>
            </a:r>
          </a:p>
          <a:p>
            <a:pPr>
              <a:spcBef>
                <a:spcPts val="200"/>
              </a:spcBef>
              <a:defRPr sz="12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Continue prompt iteration on regressions discovered in batch runs (guard leads, data-flow prioritization).</a:t>
            </a:r>
          </a:p>
          <a:p>
            <a:pPr>
              <a:spcBef>
                <a:spcPts val="1000"/>
              </a:spcBef>
              <a:defRPr sz="1400" b="1">
                <a:solidFill>
                  <a:srgbClr val="A6E3A1"/>
                </a:solidFill>
                <a:latin typeface="Segoe UI"/>
              </a:defRPr>
            </a:pPr>
            <a:r>
              <a:rPr dirty="0"/>
              <a:t>•  Validate cost at scale</a:t>
            </a:r>
          </a:p>
          <a:p>
            <a:pPr>
              <a:spcBef>
                <a:spcPts val="200"/>
              </a:spcBef>
              <a:defRPr sz="12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Confirm per-finding costs stay within budget as we move to hundreds of findings.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508760"/>
            <a:ext cx="3474720" cy="411480"/>
          </a:xfrm>
          <a:prstGeom prst="roundRect">
            <a:avLst/>
          </a:prstGeom>
          <a:solidFill>
            <a:srgbClr val="94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📋  Near-term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011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DD6F4"/>
                </a:solidFill>
                <a:latin typeface="Segoe UI"/>
              </a:defRPr>
            </a:pPr>
            <a:endParaRPr/>
          </a:p>
          <a:p>
            <a:pPr>
              <a:spcBef>
                <a:spcPts val="1000"/>
              </a:spcBef>
              <a:defRPr sz="1400" b="1">
                <a:solidFill>
                  <a:srgbClr val="94E2D5"/>
                </a:solidFill>
                <a:latin typeface="Segoe UI"/>
              </a:defRPr>
            </a:pPr>
            <a:r>
              <a:t>•  Regression test suite</a:t>
            </a:r>
          </a:p>
          <a:p>
            <a:pPr>
              <a:spcBef>
                <a:spcPts val="200"/>
              </a:spcBef>
              <a:defRPr sz="1200" b="0">
                <a:solidFill>
                  <a:srgbClr val="CDD6F4"/>
                </a:solidFill>
                <a:latin typeface="Segoe UI"/>
              </a:defRPr>
            </a:pPr>
            <a:r>
              <a:t>   Automated re-run of known CIDs after prompt or code changes to catch accuracy regressions early.</a:t>
            </a:r>
          </a:p>
          <a:p>
            <a:pPr>
              <a:spcBef>
                <a:spcPts val="1000"/>
              </a:spcBef>
              <a:defRPr sz="1400" b="1">
                <a:solidFill>
                  <a:srgbClr val="94E2D5"/>
                </a:solidFill>
                <a:latin typeface="Segoe UI"/>
              </a:defRPr>
            </a:pPr>
            <a:r>
              <a:t>•  Result review workflow</a:t>
            </a:r>
          </a:p>
          <a:p>
            <a:pPr>
              <a:spcBef>
                <a:spcPts val="200"/>
              </a:spcBef>
              <a:defRPr sz="1200" b="0">
                <a:solidFill>
                  <a:srgbClr val="CDD6F4"/>
                </a:solidFill>
                <a:latin typeface="Segoe UI"/>
              </a:defRPr>
            </a:pPr>
            <a:r>
              <a:t>   Tooling for security engineers to review, accept, or override LLM verdicts efficiently.</a:t>
            </a:r>
          </a:p>
          <a:p>
            <a:pPr>
              <a:spcBef>
                <a:spcPts val="1000"/>
              </a:spcBef>
              <a:defRPr sz="1400" b="1">
                <a:solidFill>
                  <a:srgbClr val="94E2D5"/>
                </a:solidFill>
                <a:latin typeface="Segoe UI"/>
              </a:defRPr>
            </a:pPr>
            <a:r>
              <a:t>•  Multi-language support</a:t>
            </a:r>
          </a:p>
          <a:p>
            <a:pPr>
              <a:spcBef>
                <a:spcPts val="200"/>
              </a:spcBef>
              <a:defRPr sz="1200" b="0">
                <a:solidFill>
                  <a:srgbClr val="CDD6F4"/>
                </a:solidFill>
                <a:latin typeface="Segoe UI"/>
              </a:defRPr>
            </a:pPr>
            <a:r>
              <a:t>   Extend CodeQL queries and lookup CSVs to C#, Java, and other languages in the codebase.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508760"/>
            <a:ext cx="3474720" cy="411480"/>
          </a:xfrm>
          <a:prstGeom prst="round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🚀 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011680"/>
            <a:ext cx="329184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DD6F4"/>
                </a:solidFill>
                <a:latin typeface="Segoe UI"/>
              </a:defRPr>
            </a:pPr>
            <a:endParaRPr dirty="0"/>
          </a:p>
          <a:p>
            <a:pPr>
              <a:spcBef>
                <a:spcPts val="1000"/>
              </a:spcBef>
              <a:defRPr sz="1400" b="1">
                <a:solidFill>
                  <a:srgbClr val="CBA6F7"/>
                </a:solidFill>
                <a:latin typeface="Segoe UI"/>
              </a:defRPr>
            </a:pPr>
            <a:r>
              <a:rPr dirty="0"/>
              <a:t>•  CI/CD integration</a:t>
            </a:r>
          </a:p>
          <a:p>
            <a:pPr>
              <a:spcBef>
                <a:spcPts val="200"/>
              </a:spcBef>
              <a:defRPr sz="12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Trigger orchestrated analysis automatically</a:t>
            </a:r>
            <a:r>
              <a:rPr lang="en-US" dirty="0"/>
              <a:t> in</a:t>
            </a:r>
            <a:r>
              <a:rPr dirty="0"/>
              <a:t> pipeline</a:t>
            </a:r>
            <a:r>
              <a:rPr lang="en-US" dirty="0"/>
              <a:t>s</a:t>
            </a:r>
            <a:r>
              <a:rPr dirty="0"/>
              <a:t>.</a:t>
            </a:r>
          </a:p>
          <a:p>
            <a:pPr>
              <a:spcBef>
                <a:spcPts val="1000"/>
              </a:spcBef>
              <a:defRPr sz="1400" b="1">
                <a:solidFill>
                  <a:srgbClr val="CBA6F7"/>
                </a:solidFill>
                <a:latin typeface="Segoe UI"/>
              </a:defRPr>
            </a:pPr>
            <a:r>
              <a:rPr dirty="0"/>
              <a:t>•  Dashboard &amp; reporting</a:t>
            </a:r>
          </a:p>
          <a:p>
            <a:pPr>
              <a:spcBef>
                <a:spcPts val="200"/>
              </a:spcBef>
              <a:defRPr sz="12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Aggregate verdicts, confidence levels, and cost metrics into a team-facing dashboard.</a:t>
            </a:r>
          </a:p>
          <a:p>
            <a:pPr>
              <a:spcBef>
                <a:spcPts val="1000"/>
              </a:spcBef>
              <a:defRPr sz="1400" b="1">
                <a:solidFill>
                  <a:srgbClr val="CBA6F7"/>
                </a:solidFill>
                <a:latin typeface="Segoe UI"/>
              </a:defRPr>
            </a:pPr>
            <a:r>
              <a:rPr dirty="0"/>
              <a:t>•  Feedback loop</a:t>
            </a:r>
          </a:p>
          <a:p>
            <a:pPr>
              <a:spcBef>
                <a:spcPts val="200"/>
              </a:spcBef>
              <a:defRPr sz="12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Track human overrides of LLM verdicts to continuously improve prompts and lead generation.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9E2AF"/>
                </a:solidFill>
                <a:latin typeface="Segoe UI"/>
              </a:defRPr>
            </a:pPr>
            <a:r>
              <a:t>Goal: Move from “can we do this?”  →  “run it on everything, automatically.”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Deferred for Now — and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Good ideas deliberately postponed to keep the prototype focused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120640" cy="411480"/>
          </a:xfrm>
          <a:prstGeom prst="roundRect">
            <a:avLst/>
          </a:prstGeom>
          <a:solidFill>
            <a:srgbClr val="94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⏱ 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400" b="1">
                <a:solidFill>
                  <a:srgbClr val="94E2D5"/>
                </a:solidFill>
                <a:latin typeface="Segoe UI"/>
              </a:defRPr>
            </a:pPr>
            <a:r>
              <a:t>•  Async agents</a:t>
            </a:r>
          </a:p>
          <a:p>
            <a:pPr>
              <a:spcBef>
                <a:spcPts val="200"/>
              </a:spcBef>
              <a:defRPr sz="1100" b="0">
                <a:solidFill>
                  <a:srgbClr val="CDD6F4"/>
                </a:solidFill>
                <a:latin typeface="Segoe UI"/>
              </a:defRPr>
            </a:pPr>
            <a:r>
              <a:t>   Run investigator leads in parallel instead of sequentially. Would cut wall-clock time ~3× for multi-lead plans.</a:t>
            </a:r>
          </a:p>
          <a:p>
            <a:pPr>
              <a:spcBef>
                <a:spcPts val="200"/>
              </a:spcBef>
              <a:defRPr sz="1100" b="0">
                <a:solidFill>
                  <a:srgbClr val="6C7086"/>
                </a:solidFill>
                <a:latin typeface="Segoe UI"/>
              </a:defRPr>
            </a:pPr>
            <a:r>
              <a:t>   ▸ Deferred: Adds concurrency complexity (rate limits, error handling, token accounting). Sequential is fast enough for the current batch size and simpler to debug.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400" b="1">
                <a:solidFill>
                  <a:srgbClr val="94E2D5"/>
                </a:solidFill>
                <a:latin typeface="Segoe UI"/>
              </a:defRPr>
            </a:pPr>
            <a:r>
              <a:t>•  Cache tool results</a:t>
            </a:r>
          </a:p>
          <a:p>
            <a:pPr>
              <a:spcBef>
                <a:spcPts val="200"/>
              </a:spcBef>
              <a:defRPr sz="1100" b="0">
                <a:solidFill>
                  <a:srgbClr val="CDD6F4"/>
                </a:solidFill>
                <a:latin typeface="Segoe UI"/>
              </a:defRPr>
            </a:pPr>
            <a:r>
              <a:t>   Memoize get_code / get_class lookups across leads so the same function isn’t fetched multiple times in one analysis.</a:t>
            </a:r>
          </a:p>
          <a:p>
            <a:pPr>
              <a:spcBef>
                <a:spcPts val="200"/>
              </a:spcBef>
              <a:defRPr sz="1100" b="0">
                <a:solidFill>
                  <a:srgbClr val="6C7086"/>
                </a:solidFill>
                <a:latin typeface="Segoe UI"/>
              </a:defRPr>
            </a:pPr>
            <a:r>
              <a:t>   ▸ Deferred: Current cost per-finding is already low (~$0.03–$0.08). Caching adds invalidation logic. Revisit when running at scale where repeated lookups become a real cost driver.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805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400" b="1">
                <a:solidFill>
                  <a:srgbClr val="94E2D5"/>
                </a:solidFill>
                <a:latin typeface="Segoe UI"/>
              </a:defRPr>
            </a:pPr>
            <a:r>
              <a:t>•  Indexed CSV files</a:t>
            </a:r>
          </a:p>
          <a:p>
            <a:pPr>
              <a:spcBef>
                <a:spcPts val="200"/>
              </a:spcBef>
              <a:defRPr sz="1100" b="0">
                <a:solidFill>
                  <a:srgbClr val="CDD6F4"/>
                </a:solidFill>
                <a:latin typeface="Segoe UI"/>
              </a:defRPr>
            </a:pPr>
            <a:r>
              <a:t>   Replace linear CSV scans with a SQLite index or in-memory hash for O(1) class/function lookups.</a:t>
            </a:r>
          </a:p>
          <a:p>
            <a:pPr>
              <a:spcBef>
                <a:spcPts val="200"/>
              </a:spcBef>
              <a:defRPr sz="1100" b="0">
                <a:solidFill>
                  <a:srgbClr val="6C7086"/>
                </a:solidFill>
                <a:latin typeface="Segoe UI"/>
              </a:defRPr>
            </a:pPr>
            <a:r>
              <a:t>   ▸ Deferred: CSV load is &lt;1s even for 32K-row TypeAliasLookup. Not a bottleneck today. Worth doing if CSV sizes grow 10×+.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120640" cy="411480"/>
          </a:xfrm>
          <a:prstGeom prst="round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🎯 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59" y="2011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400" b="1">
                <a:solidFill>
                  <a:srgbClr val="FAB387"/>
                </a:solidFill>
                <a:latin typeface="Segoe UI"/>
              </a:defRPr>
            </a:pPr>
            <a:r>
              <a:t>•  Competing / debating agents</a:t>
            </a:r>
          </a:p>
          <a:p>
            <a:pPr>
              <a:spcBef>
                <a:spcPts val="200"/>
              </a:spcBef>
              <a:defRPr sz="1100" b="0">
                <a:solidFill>
                  <a:srgbClr val="CDD6F4"/>
                </a:solidFill>
                <a:latin typeface="Segoe UI"/>
              </a:defRPr>
            </a:pPr>
            <a:r>
              <a:t>   Have two LLMs independently analyze the same finding, then a judge agent reconciles disagreements.</a:t>
            </a:r>
          </a:p>
          <a:p>
            <a:pPr>
              <a:spcBef>
                <a:spcPts val="200"/>
              </a:spcBef>
              <a:defRPr sz="1100" b="0">
                <a:solidFill>
                  <a:srgbClr val="6C7086"/>
                </a:solidFill>
                <a:latin typeface="Segoe UI"/>
              </a:defRPr>
            </a:pPr>
            <a:r>
              <a:t>   ▸ Deferred: Doubles cost per finding. Current single-agent accuracy is strong enough for triage. Add when marginal accuracy gains justify the cost increase.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32461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400" b="1">
                <a:solidFill>
                  <a:srgbClr val="FAB387"/>
                </a:solidFill>
                <a:latin typeface="Segoe UI"/>
              </a:defRPr>
            </a:pPr>
            <a:r>
              <a:t>•  Verification / auditing agents</a:t>
            </a:r>
          </a:p>
          <a:p>
            <a:pPr>
              <a:spcBef>
                <a:spcPts val="200"/>
              </a:spcBef>
              <a:defRPr sz="1100" b="0">
                <a:solidFill>
                  <a:srgbClr val="CDD6F4"/>
                </a:solidFill>
                <a:latin typeface="Segoe UI"/>
              </a:defRPr>
            </a:pPr>
            <a:r>
              <a:t>   A post-synthesis reviewer that challenges the verdict, checks for logical gaps, and forces re-investigation if needed.</a:t>
            </a:r>
          </a:p>
          <a:p>
            <a:pPr>
              <a:spcBef>
                <a:spcPts val="200"/>
              </a:spcBef>
              <a:defRPr sz="1100" b="0">
                <a:solidFill>
                  <a:srgbClr val="6C7086"/>
                </a:solidFill>
                <a:latin typeface="Segoe UI"/>
              </a:defRPr>
            </a:pPr>
            <a:r>
              <a:t>   ▸ Deferred: Adds another LLM call per finding. The synthesizer already has a confidence score and the planner’s evaluate field partially serves this role. Revisit after measuring false-positive rates at scale.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44805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400" b="1">
                <a:solidFill>
                  <a:srgbClr val="FAB387"/>
                </a:solidFill>
                <a:latin typeface="Segoe UI"/>
              </a:defRPr>
            </a:pPr>
            <a:r>
              <a:t>•  Critiquing agents</a:t>
            </a:r>
          </a:p>
          <a:p>
            <a:pPr>
              <a:spcBef>
                <a:spcPts val="200"/>
              </a:spcBef>
              <a:defRPr sz="1100" b="0">
                <a:solidFill>
                  <a:srgbClr val="CDD6F4"/>
                </a:solidFill>
                <a:latin typeface="Segoe UI"/>
              </a:defRPr>
            </a:pPr>
            <a:r>
              <a:t>   An adversarial agent that tries to poke holes in the evidence chain and downgrades confidence if it succeeds.</a:t>
            </a:r>
          </a:p>
          <a:p>
            <a:pPr>
              <a:spcBef>
                <a:spcPts val="200"/>
              </a:spcBef>
              <a:defRPr sz="1100" b="0">
                <a:solidFill>
                  <a:srgbClr val="6C7086"/>
                </a:solidFill>
                <a:latin typeface="Segoe UI"/>
              </a:defRPr>
            </a:pPr>
            <a:r>
              <a:t>   ▸ Deferred: Risk of over-correction — a skeptical agent could downgrade valid findings. Needs careful calibration. Best tackled after human review data provides ground truth.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E2AF"/>
                </a:solidFill>
                <a:latin typeface="Segoe UI"/>
              </a:defRPr>
            </a:pPr>
            <a:r>
              <a:t>Principle: Ship the simplest thing that works, then add complexity only when data proves it’s needed.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234BED-8BA5-656B-658C-75F687CC8B77}"/>
              </a:ext>
            </a:extLst>
          </p:cNvPr>
          <p:cNvSpPr/>
          <p:nvPr/>
        </p:nvSpPr>
        <p:spPr>
          <a:xfrm>
            <a:off x="203370" y="1456200"/>
            <a:ext cx="2979029" cy="1972800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defRPr>
                <a:solidFill>
                  <a:srgbClr val="FFFFFF"/>
                </a:solidFill>
                <a:latin typeface="Segoe UI"/>
              </a:defRPr>
            </a:pPr>
            <a:r>
              <a:rPr lang="en-US" b="1" dirty="0">
                <a:solidFill>
                  <a:srgbClr val="FFFFFF"/>
                </a:solidFill>
                <a:latin typeface="Segoe UI"/>
              </a:rPr>
              <a:t>Application Build Pipeline</a:t>
            </a:r>
            <a:endParaRPr 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07FFB5B-BA74-2897-C7A2-ADBC584FD040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3182399" y="2433681"/>
            <a:ext cx="997903" cy="8919"/>
          </a:xfrm>
          <a:prstGeom prst="straightConnector1">
            <a:avLst/>
          </a:prstGeom>
          <a:ln w="25400">
            <a:solidFill>
              <a:srgbClr val="F9E2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C7735964-69DB-3D2E-7246-2BEB16F107F3}"/>
              </a:ext>
            </a:extLst>
          </p:cNvPr>
          <p:cNvSpPr/>
          <p:nvPr/>
        </p:nvSpPr>
        <p:spPr>
          <a:xfrm>
            <a:off x="260614" y="2031586"/>
            <a:ext cx="1299430" cy="902822"/>
          </a:xfrm>
          <a:prstGeom prst="rect">
            <a:avLst/>
          </a:prstGeom>
          <a:solidFill>
            <a:srgbClr val="45475A"/>
          </a:solidFill>
          <a:ln w="12700">
            <a:solidFill>
              <a:srgbClr val="45475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defRPr>
                <a:solidFill>
                  <a:srgbClr val="94E2D5"/>
                </a:solidFill>
                <a:latin typeface="Segoe UI"/>
              </a:defRPr>
            </a:pPr>
            <a:r>
              <a:rPr lang="en-US" b="1" dirty="0">
                <a:ln w="0"/>
                <a:solidFill>
                  <a:srgbClr val="94E2D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/>
              </a:rPr>
              <a:t>Build</a:t>
            </a:r>
          </a:p>
          <a:p>
            <a:pPr>
              <a:defRPr>
                <a:solidFill>
                  <a:srgbClr val="94E2D5"/>
                </a:solidFill>
                <a:latin typeface="Segoe UI"/>
              </a:defRPr>
            </a:pPr>
            <a:r>
              <a:rPr lang="en-US" sz="1400" dirty="0">
                <a:ln w="0"/>
                <a:solidFill>
                  <a:srgbClr val="94E2D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/>
              </a:rPr>
              <a:t>Create CodeQL AST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13CFBF-54D7-728A-2B9E-AF216230D0A3}"/>
              </a:ext>
            </a:extLst>
          </p:cNvPr>
          <p:cNvSpPr/>
          <p:nvPr/>
        </p:nvSpPr>
        <p:spPr>
          <a:xfrm>
            <a:off x="1677741" y="2031585"/>
            <a:ext cx="1299430" cy="902823"/>
          </a:xfrm>
          <a:prstGeom prst="rect">
            <a:avLst/>
          </a:prstGeom>
          <a:solidFill>
            <a:srgbClr val="45475A"/>
          </a:solidFill>
          <a:ln w="12700">
            <a:solidFill>
              <a:srgbClr val="45475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defRPr>
                <a:solidFill>
                  <a:srgbClr val="94E2D5"/>
                </a:solidFill>
                <a:latin typeface="Segoe UI"/>
              </a:defRPr>
            </a:pPr>
            <a:r>
              <a:rPr lang="en-US" b="1" dirty="0">
                <a:ln w="0"/>
                <a:solidFill>
                  <a:srgbClr val="94E2D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/>
              </a:rPr>
              <a:t>Run </a:t>
            </a:r>
          </a:p>
          <a:p>
            <a:pPr>
              <a:defRPr>
                <a:solidFill>
                  <a:srgbClr val="94E2D5"/>
                </a:solidFill>
                <a:latin typeface="Segoe UI"/>
              </a:defRPr>
            </a:pPr>
            <a:r>
              <a:rPr lang="en-US" sz="1400" dirty="0">
                <a:ln w="0"/>
                <a:solidFill>
                  <a:srgbClr val="94E2D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/>
              </a:rPr>
              <a:t>CodeQL Rules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00F4896-DD26-9691-7E12-85A3F8B7169D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1560044" y="2482997"/>
            <a:ext cx="117697" cy="0"/>
          </a:xfrm>
          <a:prstGeom prst="straightConnector1">
            <a:avLst/>
          </a:prstGeom>
          <a:ln w="25400">
            <a:solidFill>
              <a:srgbClr val="F9E2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6CDD9A4-292B-1CFA-FE33-C92C76FEFE25}"/>
              </a:ext>
            </a:extLst>
          </p:cNvPr>
          <p:cNvSpPr txBox="1"/>
          <p:nvPr/>
        </p:nvSpPr>
        <p:spPr>
          <a:xfrm>
            <a:off x="3122506" y="2031585"/>
            <a:ext cx="1019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>
                <a:solidFill>
                  <a:srgbClr val="CDD6F4"/>
                </a:solidFill>
                <a:latin typeface="Segoe UI"/>
              </a:defRPr>
            </a:pPr>
            <a:r>
              <a:rPr lang="en-US" dirty="0">
                <a:solidFill>
                  <a:srgbClr val="CDD6F4"/>
                </a:solidFill>
                <a:latin typeface="Segoe UI"/>
              </a:rPr>
              <a:t>Findings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E1DC3A-B9CD-F815-2BEB-CC32A28E080B}"/>
              </a:ext>
            </a:extLst>
          </p:cNvPr>
          <p:cNvSpPr txBox="1"/>
          <p:nvPr/>
        </p:nvSpPr>
        <p:spPr>
          <a:xfrm>
            <a:off x="3127485" y="2516134"/>
            <a:ext cx="10960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CDD6F4"/>
                </a:solidFill>
                <a:latin typeface="Segoe UI"/>
              </a:defRPr>
            </a:pPr>
            <a:r>
              <a:rPr lang="en-US" sz="1200" dirty="0">
                <a:ln w="0"/>
                <a:solidFill>
                  <a:srgbClr val="CDD6F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/>
              </a:rPr>
              <a:t>CodeQL DB</a:t>
            </a:r>
          </a:p>
          <a:p>
            <a:pPr>
              <a:defRPr>
                <a:solidFill>
                  <a:srgbClr val="CDD6F4"/>
                </a:solidFill>
                <a:latin typeface="Segoe UI"/>
              </a:defRPr>
            </a:pPr>
            <a:r>
              <a:rPr lang="en-US" sz="1200" dirty="0">
                <a:ln w="0"/>
                <a:solidFill>
                  <a:srgbClr val="CDD6F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/>
              </a:rPr>
              <a:t>CodeQL Sarif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A44767-0F79-62E8-2CA1-91E7AAD06BEC}"/>
              </a:ext>
            </a:extLst>
          </p:cNvPr>
          <p:cNvSpPr/>
          <p:nvPr/>
        </p:nvSpPr>
        <p:spPr>
          <a:xfrm>
            <a:off x="4180302" y="1456200"/>
            <a:ext cx="2880914" cy="1972800"/>
          </a:xfrm>
          <a:prstGeom prst="rect">
            <a:avLst/>
          </a:prstGeom>
          <a:solidFill>
            <a:srgbClr val="CBA6F7"/>
          </a:solidFill>
          <a:ln w="12700">
            <a:solidFill>
              <a:srgbClr val="CBA6F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defRPr>
                <a:solidFill>
                  <a:srgbClr val="FFFFFF"/>
                </a:solidFill>
                <a:latin typeface="Segoe UI"/>
              </a:defRPr>
            </a:pPr>
            <a:r>
              <a:rPr lang="en-US" b="1" dirty="0">
                <a:solidFill>
                  <a:srgbClr val="FFFFFF"/>
                </a:solidFill>
                <a:latin typeface="Segoe UI"/>
              </a:rPr>
              <a:t>AI Triage (Vulnhalla)</a:t>
            </a:r>
            <a:endParaRPr 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0658C3-B80C-6E45-9405-9A2B7DBBA4FF}"/>
              </a:ext>
            </a:extLst>
          </p:cNvPr>
          <p:cNvSpPr/>
          <p:nvPr/>
        </p:nvSpPr>
        <p:spPr>
          <a:xfrm>
            <a:off x="8337714" y="1443600"/>
            <a:ext cx="2880914" cy="19728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45475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defRPr>
                <a:solidFill>
                  <a:srgbClr val="FAB387"/>
                </a:solidFill>
                <a:latin typeface="Segoe UI"/>
              </a:defRPr>
            </a:pPr>
            <a:r>
              <a:rPr lang="en-US" b="1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/>
              </a:rPr>
              <a:t>ASM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814D324-9596-40EE-5AFD-580512501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9100" y="2147177"/>
            <a:ext cx="1698141" cy="437400"/>
          </a:xfrm>
          <a:prstGeom prst="rect">
            <a:avLst/>
          </a:prstGeom>
          <a:ln>
            <a:solidFill>
              <a:schemeClr val="bg1"/>
            </a:solidFill>
          </a:ln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6760691-1379-F2AD-B7BD-74C66438D680}"/>
              </a:ext>
            </a:extLst>
          </p:cNvPr>
          <p:cNvCxnSpPr>
            <a:endCxn id="11" idx="1"/>
          </p:cNvCxnSpPr>
          <p:nvPr/>
        </p:nvCxnSpPr>
        <p:spPr>
          <a:xfrm>
            <a:off x="7061216" y="2421081"/>
            <a:ext cx="1276498" cy="8919"/>
          </a:xfrm>
          <a:prstGeom prst="straightConnector1">
            <a:avLst/>
          </a:prstGeom>
          <a:ln w="25400">
            <a:solidFill>
              <a:srgbClr val="F9E2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F3ED0BE-8A34-538B-50C1-7FB10A0B3E8A}"/>
              </a:ext>
            </a:extLst>
          </p:cNvPr>
          <p:cNvSpPr txBox="1"/>
          <p:nvPr/>
        </p:nvSpPr>
        <p:spPr>
          <a:xfrm>
            <a:off x="7163844" y="1818395"/>
            <a:ext cx="10195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>
                <a:solidFill>
                  <a:srgbClr val="CDD6F4"/>
                </a:solidFill>
                <a:latin typeface="Segoe UI"/>
              </a:defRPr>
            </a:pPr>
            <a:r>
              <a:rPr lang="en-US" dirty="0">
                <a:solidFill>
                  <a:srgbClr val="CDD6F4"/>
                </a:solidFill>
                <a:latin typeface="Segoe UI"/>
              </a:rPr>
              <a:t>Curated</a:t>
            </a:r>
          </a:p>
          <a:p>
            <a:pPr>
              <a:defRPr>
                <a:solidFill>
                  <a:srgbClr val="CDD6F4"/>
                </a:solidFill>
                <a:latin typeface="Segoe UI"/>
              </a:defRPr>
            </a:pPr>
            <a:r>
              <a:rPr lang="en-US" dirty="0">
                <a:solidFill>
                  <a:srgbClr val="CDD6F4"/>
                </a:solidFill>
                <a:latin typeface="Segoe UI"/>
              </a:rPr>
              <a:t>Findings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AE2491-4F09-7BE2-E798-B07B59EECE0F}"/>
              </a:ext>
            </a:extLst>
          </p:cNvPr>
          <p:cNvSpPr/>
          <p:nvPr/>
        </p:nvSpPr>
        <p:spPr>
          <a:xfrm>
            <a:off x="4493350" y="1818395"/>
            <a:ext cx="2254818" cy="1356338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A6E3A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defRPr>
                <a:solidFill>
                  <a:srgbClr val="1E1E2E"/>
                </a:solidFill>
                <a:latin typeface="Segoe UI"/>
              </a:defRPr>
            </a:pPr>
            <a:r>
              <a:rPr lang="en-US" b="1" dirty="0">
                <a:ln w="0"/>
                <a:solidFill>
                  <a:srgbClr val="1E1E2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/>
              </a:rPr>
              <a:t>Orchestrator</a:t>
            </a:r>
          </a:p>
          <a:p>
            <a:pPr>
              <a:defRPr>
                <a:solidFill>
                  <a:srgbClr val="1E1E2E"/>
                </a:solidFill>
                <a:latin typeface="Segoe UI"/>
              </a:defRPr>
            </a:pPr>
            <a:r>
              <a:rPr lang="en-US" sz="1600" dirty="0">
                <a:ln w="0"/>
                <a:solidFill>
                  <a:srgbClr val="1E1E2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/>
              </a:rPr>
              <a:t>Create index files</a:t>
            </a:r>
          </a:p>
          <a:p>
            <a:pPr>
              <a:defRPr>
                <a:solidFill>
                  <a:srgbClr val="1E1E2E"/>
                </a:solidFill>
                <a:latin typeface="Segoe UI"/>
              </a:defRPr>
            </a:pPr>
            <a:r>
              <a:rPr lang="en-US" sz="1600" dirty="0">
                <a:ln w="0"/>
                <a:solidFill>
                  <a:srgbClr val="1E1E2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/>
              </a:rPr>
              <a:t>Triage each finding</a:t>
            </a:r>
          </a:p>
          <a:p>
            <a:pPr>
              <a:defRPr>
                <a:solidFill>
                  <a:srgbClr val="1E1E2E"/>
                </a:solidFill>
                <a:latin typeface="Segoe UI"/>
              </a:defRPr>
            </a:pPr>
            <a:r>
              <a:rPr lang="en-US" sz="1600" dirty="0">
                <a:ln w="0"/>
                <a:solidFill>
                  <a:srgbClr val="1E1E2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/>
              </a:rPr>
              <a:t>Tool manager for LLM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8B65D9-89C0-DEA1-B2E6-6852280ACEAF}"/>
              </a:ext>
            </a:extLst>
          </p:cNvPr>
          <p:cNvSpPr/>
          <p:nvPr/>
        </p:nvSpPr>
        <p:spPr>
          <a:xfrm>
            <a:off x="4861341" y="3695985"/>
            <a:ext cx="1299430" cy="902823"/>
          </a:xfrm>
          <a:prstGeom prst="rect">
            <a:avLst/>
          </a:prstGeom>
          <a:solidFill>
            <a:srgbClr val="FAB387"/>
          </a:solidFill>
          <a:ln w="12700">
            <a:solidFill>
              <a:srgbClr val="FAB38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defRPr>
                <a:solidFill>
                  <a:srgbClr val="FFFFFF"/>
                </a:solidFill>
                <a:latin typeface="Segoe UI"/>
              </a:defRPr>
            </a:pPr>
            <a:r>
              <a:rPr lang="en-US" b="1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/>
              </a:rPr>
              <a:t>LLM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0D80EB5-F685-AC05-53BE-B58B116C3983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5511056" y="3174733"/>
            <a:ext cx="0" cy="521252"/>
          </a:xfrm>
          <a:prstGeom prst="straightConnector1">
            <a:avLst/>
          </a:prstGeom>
          <a:ln w="25400">
            <a:solidFill>
              <a:srgbClr val="F9E2AF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0481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95</TotalTime>
  <Words>4536</Words>
  <Application>Microsoft Office PowerPoint</Application>
  <PresentationFormat>Widescreen</PresentationFormat>
  <Paragraphs>473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LIGGETT, TRACE</cp:lastModifiedBy>
  <cp:revision>9</cp:revision>
  <dcterms:created xsi:type="dcterms:W3CDTF">2013-01-27T09:14:16Z</dcterms:created>
  <dcterms:modified xsi:type="dcterms:W3CDTF">2026-03-27T17:13:22Z</dcterms:modified>
  <cp:category/>
</cp:coreProperties>
</file>