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B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1338" y="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89B4FA"/>
                </a:solidFill>
                <a:latin typeface="Segoe UI"/>
              </a:defRPr>
            </a:pPr>
            <a:r>
              <a:t>Vulnhalla: Orchestrated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DD6F4"/>
                </a:solidFill>
                <a:latin typeface="Segoe UI"/>
              </a:defRPr>
            </a:pPr>
            <a:r>
              <a:t>From single-turn LLM conversations to a structured Plan → Investigate → Synthesize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086"/>
                </a:solidFill>
                <a:latin typeface="Cascadia Code"/>
              </a:defRPr>
            </a:pPr>
            <a:r>
              <a:t>Model: azure/gpt-5.1-codex   │   Static Analysis: Coverity + CodeQL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6E3A1"/>
                </a:solidFill>
                <a:latin typeface="Segoe UI"/>
              </a:defRPr>
            </a:pPr>
            <a:r>
              <a:t>Plan  →  Investigate  →  Synthesize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The Problem: Manual Triage Doesn’t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  <a:defRPr sz="2000" b="0">
                <a:solidFill>
                  <a:srgbClr val="CDD6F4"/>
                </a:solidFill>
                <a:latin typeface="Segoe UI"/>
              </a:defRPr>
            </a:pPr>
            <a:r>
              <a:t>•  Coverity + CodeQL generate hundreds of static-analysis findings</a:t>
            </a:r>
          </a:p>
          <a:p>
            <a:pPr>
              <a:spcBef>
                <a:spcPts val="1600"/>
              </a:spcBef>
              <a:defRPr sz="2000">
                <a:solidFill>
                  <a:srgbClr val="CDD6F4"/>
                </a:solidFill>
                <a:latin typeface="Segoe UI"/>
              </a:defRPr>
            </a:pPr>
            <a:r>
              <a:t>•  Each finding requires a human to read code, trace data flow, assess guards</a:t>
            </a:r>
          </a:p>
          <a:p>
            <a:pPr>
              <a:spcBef>
                <a:spcPts val="1600"/>
              </a:spcBef>
              <a:defRPr sz="2000">
                <a:solidFill>
                  <a:srgbClr val="FAB387"/>
                </a:solidFill>
                <a:latin typeface="Segoe UI"/>
              </a:defRPr>
            </a:pPr>
            <a:r>
              <a:t>•  Experienced security engineers spend 10–30 min per issue</a:t>
            </a:r>
          </a:p>
          <a:p>
            <a:pPr>
              <a:spcBef>
                <a:spcPts val="1600"/>
              </a:spcBef>
              <a:defRPr sz="2000">
                <a:solidFill>
                  <a:srgbClr val="CDD6F4"/>
                </a:solidFill>
                <a:latin typeface="Segoe UI"/>
              </a:defRPr>
            </a:pPr>
            <a:r>
              <a:t>•  Many findings are False Positives — valid guards exist but the tool can’t see them</a:t>
            </a:r>
          </a:p>
          <a:p>
            <a:pPr>
              <a:spcBef>
                <a:spcPts val="1600"/>
              </a:spcBef>
              <a:defRPr sz="2000">
                <a:solidFill>
                  <a:srgbClr val="A6E3A1"/>
                </a:solidFill>
                <a:latin typeface="Segoe UI"/>
              </a:defRPr>
            </a:pPr>
            <a:r>
              <a:t>•  Goal: LLM-powered triage that can classify TP / FP / NMD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086"/>
                </a:solidFill>
                <a:latin typeface="Cascadia Code"/>
              </a:defRPr>
            </a:pPr>
            <a:r>
              <a:t>Verdict codes:  1337 = True Positive  │  1007 = False Positive  │  7331 = Needs More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Old Mode: Single Multi-Turn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LLMAnalyzer  —  one long chat with the LLM making all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502920"/>
          </a:xfrm>
          <a:prstGeom prst="round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Alert +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00400" cy="502920"/>
          </a:xfrm>
          <a:prstGeom prst="round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 System Messages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00400" cy="502920"/>
          </a:xfrm>
          <a:prstGeom prst="round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LLM Picks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3200400" cy="50292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Execute → Inject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200400" cy="502920"/>
          </a:xfrm>
          <a:prstGeom prst="roundRect">
            <a:avLst/>
          </a:prstGeom>
          <a:solidFill>
            <a:srgbClr val="45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Check Evidence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3200400" cy="50292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Verdict or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06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086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086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886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086"/>
                </a:solidFill>
                <a:latin typeface="Segoe UI"/>
              </a:defRPr>
            </a:pPr>
            <a:r>
              <a:t>↻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t>How It Works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LLM decides which tools to call and in what order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Sequential rounds — no parallelization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Evidence tracked via sticky flags (MECHANISM, GUARDS, EXPLOITABILITY)</a:t>
            </a:r>
          </a:p>
          <a:p>
            <a:pPr>
              <a:spcBef>
                <a:spcPts val="1400"/>
              </a:spcBef>
              <a:defRPr sz="1700" b="0">
                <a:solidFill>
                  <a:srgbClr val="CDD6F4"/>
                </a:solidFill>
                <a:latin typeface="Segoe UI"/>
              </a:defRPr>
            </a:pPr>
            <a:r>
              <a:t>•  4 system messages injected (role, workflow, status codes, tools)</a:t>
            </a:r>
          </a:p>
          <a:p>
            <a:pPr>
              <a:spcBef>
                <a:spcPts val="1400"/>
              </a:spcBef>
              <a:defRPr sz="1700" b="0">
                <a:solidFill>
                  <a:srgbClr val="6C7086"/>
                </a:solidFill>
                <a:latin typeface="Segoe UI"/>
              </a:defRPr>
            </a:pPr>
            <a:r>
              <a:t>•  Tools: get_function_code, get_caller_function, get_class, get_macro, get_global_var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Old Mode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Why a single conversation with full LLM autonomy falls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Topic Drift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LLM reasoning can diverge from actual code.</a:t>
            </a:r>
            <a:br/>
            <a:r>
              <a:t>It may chase irrelevant functions for many rounds.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02920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⚠  No Parallelization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All tool calls are sequential — one round at a time.</a:t>
            </a:r>
            <a:br>
              <a:rPr dirty="0"/>
            </a:br>
            <a:r>
              <a:rPr dirty="0"/>
              <a:t>Complex cases serialize poorly.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Duplicate Tool Calls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LLM may request the same function lookup twice.</a:t>
            </a:r>
            <a:br/>
            <a:r>
              <a:t>No deduplication across rounds.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Dead-End Loops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LLM can spend many rounds on a fruitless path</a:t>
            </a:r>
            <a:br/>
            <a:r>
              <a:t>before trying a different approach.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502920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⚠  Hard to </a:t>
            </a:r>
            <a:r>
              <a:rPr lang="en-US" dirty="0"/>
              <a:t>Enhance &amp; </a:t>
            </a:r>
            <a:r>
              <a:rPr dirty="0"/>
              <a:t>Debug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One big conversation log — no easy way to see</a:t>
            </a:r>
            <a:br>
              <a:rPr dirty="0"/>
            </a:br>
            <a:r>
              <a:rPr dirty="0"/>
              <a:t>which round introduced a wrong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Segoe UI"/>
              </a:defRPr>
            </a:pPr>
            <a:r>
              <a:t>⚠  Guard Blindness</a:t>
            </a:r>
          </a:p>
          <a:p>
            <a:pPr>
              <a:spcBef>
                <a:spcPts val="8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t>No systematic strategy for checking call-site guards.</a:t>
            </a:r>
            <a:br/>
            <a:r>
              <a:t>Guards often missed or dismissed.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Orchestrated Mode: 3-Phase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Python orchestrates — the LLM answers focused questions, not driving the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1188720"/>
          </a:xfrm>
          <a:prstGeom prst="round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1: PLAN</a:t>
            </a:r>
            <a:br/>
            <a:r>
              <a:t>Decompose alert into investigation leads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74720" cy="1188720"/>
          </a:xfrm>
          <a:prstGeom prst="roundRect">
            <a:avLst/>
          </a:prstGeom>
          <a:solidFill>
            <a:srgbClr val="94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2: INVESTIGATE</a:t>
            </a:r>
            <a:br/>
            <a:r>
              <a:t>Parallel per-lead tool calling +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474720" cy="1188720"/>
          </a:xfrm>
          <a:prstGeom prst="round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3: SYNTHESIZE</a:t>
            </a:r>
            <a:br/>
            <a:r>
              <a:t>Chain findings into final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C708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C708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474720" cy="1354089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• Reads alert + flagged code</a:t>
            </a:r>
            <a:br>
              <a:rPr dirty="0"/>
            </a:br>
            <a:r>
              <a:rPr dirty="0"/>
              <a:t>• Outputs JSON array of leads</a:t>
            </a:r>
            <a:br>
              <a:rPr dirty="0"/>
            </a:br>
            <a:r>
              <a:rPr dirty="0"/>
              <a:t>• Each lead: question, why,</a:t>
            </a:r>
            <a:br>
              <a:rPr dirty="0"/>
            </a:br>
            <a:r>
              <a:rPr dirty="0"/>
              <a:t>   evaluation criteria, line</a:t>
            </a:r>
            <a:r>
              <a:rPr lang="en-US" dirty="0"/>
              <a:t>     	</a:t>
            </a:r>
            <a:r>
              <a:rPr dirty="0" err="1"/>
              <a:t>nums</a:t>
            </a:r>
            <a:r>
              <a:rPr dirty="0"/>
              <a:t>, seed tools to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926080"/>
            <a:ext cx="3474720" cy="212353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lang="en-US" dirty="0"/>
              <a:t>Focused, receives only the question and seeded tool info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Runs each lead in parallel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Seed tools auto-executed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LLM gets 12</a:t>
            </a:r>
            <a:r>
              <a:rPr lang="en-US" dirty="0"/>
              <a:t>+</a:t>
            </a:r>
            <a:r>
              <a:rPr dirty="0"/>
              <a:t> follow-up calls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Tool cache deduplicates</a:t>
            </a:r>
            <a:endParaRPr lang="en-US" dirty="0"/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lang="en-US" dirty="0"/>
              <a:t>6 </a:t>
            </a:r>
            <a:r>
              <a:rPr dirty="0"/>
              <a:t>consecutive</a:t>
            </a:r>
            <a:r>
              <a:rPr lang="en-US" dirty="0"/>
              <a:t> </a:t>
            </a:r>
            <a:r>
              <a:rPr dirty="0"/>
              <a:t>fails → 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926080"/>
            <a:ext cx="3474720" cy="1610569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CDD6F4"/>
                </a:solidFill>
                <a:latin typeface="Cascadia Code"/>
              </a:defRPr>
            </a:pPr>
            <a:r>
              <a:rPr dirty="0"/>
              <a:t>• Receives all lead findings</a:t>
            </a:r>
            <a:br>
              <a:rPr dirty="0"/>
            </a:br>
            <a:r>
              <a:rPr dirty="0"/>
              <a:t>• No tools — pure reasoning</a:t>
            </a:r>
            <a:br>
              <a:rPr dirty="0"/>
            </a:br>
            <a:r>
              <a:rPr dirty="0"/>
              <a:t>• Traces data flow source → </a:t>
            </a:r>
            <a:r>
              <a:rPr lang="en-US" dirty="0"/>
              <a:t>	</a:t>
            </a:r>
            <a:r>
              <a:rPr dirty="0"/>
              <a:t>sink</a:t>
            </a:r>
            <a:br>
              <a:rPr dirty="0"/>
            </a:br>
            <a:r>
              <a:rPr dirty="0"/>
              <a:t>• Assesses guard effectiveness</a:t>
            </a:r>
            <a:br>
              <a:rPr dirty="0"/>
            </a:br>
            <a:r>
              <a:rPr dirty="0"/>
              <a:t>• Returns verdict +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E2AF"/>
                </a:solidFill>
                <a:latin typeface="Segoe UI"/>
              </a:defRPr>
            </a:pPr>
            <a:r>
              <a:rPr lang="en-US" dirty="0"/>
              <a:t>LLM Planner</a:t>
            </a:r>
            <a:r>
              <a:rPr dirty="0"/>
              <a:t> decides what to investigate. </a:t>
            </a:r>
            <a:r>
              <a:rPr lang="en-US" dirty="0"/>
              <a:t>Each</a:t>
            </a:r>
            <a:r>
              <a:rPr dirty="0"/>
              <a:t> LLM</a:t>
            </a:r>
            <a:r>
              <a:rPr lang="en-US" dirty="0"/>
              <a:t> Investigator</a:t>
            </a:r>
            <a:r>
              <a:rPr dirty="0"/>
              <a:t> answers one focused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Phase 1 Prompt — The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Role: “Expert security researcher” — security-aware because it must understand alert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t>Prompt Instructions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Plan, don’t decide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Explicitly forbidden from reaching a verdict or presupposing answers.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Cite line numbers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Every question, why, and evaluate must reference specific source lines.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Observable properties only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Ask about return ranges, types, control flow — never infer from names.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Self-contained leads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Each lead answerable independently — enables parallel execution.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Data-flow prioritization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Focus on functions between source and sink, not downstream consumers.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Explicit guard leads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Separate lead for caller-side guards — don’t fold into callee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E2AF"/>
                </a:solidFill>
                <a:latin typeface="Segoe UI"/>
              </a:defRPr>
            </a:pPr>
            <a:r>
              <a:rPr dirty="0"/>
              <a:t>Design Rationale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Knows it’s security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The planner MUST understand the alert type (buffer overflow, use-after-free, etc.) to decompose it into the right questions. Without security context, it can’t identify what matters.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Forbidden from concluding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Separation of concerns: if the planner also reasons about verdicts, it biases the questions. Planning and judging must be decoupled.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No name-based assumptions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LLMs readily assume “</a:t>
            </a:r>
            <a:r>
              <a:rPr dirty="0" err="1"/>
              <a:t>GetSize</a:t>
            </a:r>
            <a:r>
              <a:rPr dirty="0"/>
              <a:t> returns a size” or “</a:t>
            </a:r>
            <a:r>
              <a:rPr dirty="0" err="1"/>
              <a:t>IsValid</a:t>
            </a:r>
            <a:r>
              <a:rPr dirty="0"/>
              <a:t> checks validity.” The prompt forces observable questions to prevent hallucinated reasoning shortcuts.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rPr dirty="0"/>
              <a:t>Guard leads mandated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Most FP misclassifications come from missed caller-side guards. Requiring a separate guard lead ensures the synthesizer gets explicit evidence about protections.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Phase 2 Prompt — The Investigator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Role: “Code researcher” — deliberately NOT told this is about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Prompt Instructions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Answer ONE question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Scoped to a single lead — no verdict, no security judgment.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Check the </a:t>
            </a:r>
            <a:r>
              <a:rPr lang="en-US" dirty="0"/>
              <a:t>tool </a:t>
            </a:r>
            <a:r>
              <a:rPr dirty="0"/>
              <a:t>ledger first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PRIOR TOOL RESULTS list prevents duplicate tool calls.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“Can I answer now?”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Must ask this before every tool call — stops wasteful exploration.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Follow delegation chains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If a function just forwards data, look up the callee. Don’t stop at pass-throughs.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Evidence audit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Strip assertions before responding — if removing them changes the answer, it was wrong.</a:t>
            </a:r>
          </a:p>
          <a:p>
            <a:pPr>
              <a:spcBef>
                <a:spcPts val="1000"/>
              </a:spcBef>
              <a:defRPr sz="1600" b="1">
                <a:solidFill>
                  <a:srgbClr val="94E2D5"/>
                </a:solidFill>
                <a:latin typeface="Segoe UI"/>
              </a:defRPr>
            </a:pPr>
            <a:r>
              <a:rPr dirty="0"/>
              <a:t>•  Only look up visible names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Every tool argument must appear in code already seen. No invented names.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E2AF"/>
                </a:solidFill>
                <a:latin typeface="Segoe UI"/>
              </a:defRPr>
            </a:pPr>
            <a:r>
              <a:t>Design Rationale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Does NOT know it’s security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This is the key design choice. The investigator is told it’s a “code researcher” — not a security analyst. This prevents it from jumping to security conclusions or dismissing findings as “probably safe.” It just reports what the code does.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Factual, not judgmental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Without security framing, the LLM treats every code path equally. It won’t rationalize away a missing bounds check because “the function name suggests it’s safe.”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Tight tool discipline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The ledger check + “can I answer now?” pattern cuts tool usage dramatically. Old mode had no dedup — LLM would re-request the same function multiple times.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Assertion stripping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Assertions compile to no-ops in production. LLMs treat them as real guards unless explicitly told otherwise. The evidence audit forces the investigator to remove them before concluding.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Phase 3 Prompt — The Synthesizer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Role: “Expert security researcher” — security context restored for the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t>Prompt Instructions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Chain findings together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Trace data flow from source to sink using evidence from all leads.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No tools — pure reasoning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Works only from pre-gathered evidence. Cannot request new lookups.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Guard assessment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List every guard: effective (runtime bound) vs. ineffective (assertion/missing).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Transitive assertion rule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If a guard’s limit is only bounded by an assertion, the guard itself is broken.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Structured verdict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Evidence Summary → Data Flow → Guard Assessment → Status Code.</a:t>
            </a:r>
          </a:p>
          <a:p>
            <a:pPr>
              <a:spcBef>
                <a:spcPts val="1000"/>
              </a:spcBef>
              <a:defRPr sz="1600" b="1">
                <a:solidFill>
                  <a:srgbClr val="A6E3A1"/>
                </a:solidFill>
                <a:latin typeface="Segoe UI"/>
              </a:defRPr>
            </a:pPr>
            <a:r>
              <a:t>•  Respect investigator gaps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“Could not determine” = no bound was found = value is unbounded.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E2AF"/>
                </a:solidFill>
                <a:latin typeface="Segoe UI"/>
              </a:defRPr>
            </a:pPr>
            <a:r>
              <a:t>Design Rationale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Security context restored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Unlike the investigator, the synthesizer needs to understand exploitability, guard effectiveness, and vulnerability classes. It’s the ONLY phase that renders a security judgment.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Evidence-only reasoning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No tools means no opportunity to go off-script. The synthesizer can only work with what investigators found — this prevents it from doing its own ad-hoc investigation and contradicting leads.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Structured output format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Forcing Evidence Summary → Data Flow → Guard Assessment → Verdict ensures the LLM shows its work. Each step is auditable and the verdict must follow logically from the prior sections.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FAB387"/>
                </a:solidFill>
                <a:latin typeface="Segoe UI"/>
              </a:defRPr>
            </a:pPr>
            <a:r>
              <a:t>Absence = unbounded</a:t>
            </a:r>
          </a:p>
          <a:p>
            <a:pPr>
              <a:spcBef>
                <a:spcPts val="200"/>
              </a:spcBef>
              <a:defRPr sz="1300" b="0">
                <a:solidFill>
                  <a:srgbClr val="CDD6F4"/>
                </a:solidFill>
                <a:latin typeface="Segoe UI"/>
              </a:defRPr>
            </a:pPr>
            <a:r>
              <a:t>   LLMs tend to assume safety when evidence is missing. The prompt flips this: if an investigator couldn’t find a bound, the value is treated as unbounded. This prevents optimistic hallucination.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The Lead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Each lead is a focused, self-contained investigation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41148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A6E3A1"/>
                </a:solidFill>
                <a:latin typeface="Cascadia Code"/>
              </a:defRPr>
            </a:pPr>
            <a:r>
              <a:t>{</a:t>
            </a:r>
            <a:br/>
            <a:r>
              <a:t>  "question": "What values can GetSize() return</a:t>
            </a:r>
            <a:br/>
            <a:r>
              <a:t>               when the file is empty?",</a:t>
            </a:r>
            <a:br/>
            <a:r>
              <a:t>  "why": "GetSize is used as array index at line 47.</a:t>
            </a:r>
            <a:br/>
            <a:r>
              <a:t>          Negative return → out-of-bounds access.",</a:t>
            </a:r>
            <a:br/>
            <a:r>
              <a:t>  "evaluate": "Return-value range of GetSize()",</a:t>
            </a:r>
            <a:br/>
            <a:r>
              <a:t>  "lines": [42, 47, 51],</a:t>
            </a:r>
            <a:br/>
            <a:r>
              <a:t>  "tools": [</a:t>
            </a:r>
            <a:br/>
            <a:r>
              <a:t>    {"tool": "get_function_code",</a:t>
            </a:r>
            <a:br/>
            <a:r>
              <a:t>     "args": {"name": "GetSize", "file": "file.cpp"}}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371600"/>
            <a:ext cx="5486400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Lead Structure</a:t>
            </a:r>
          </a:p>
          <a:p>
            <a:pPr>
              <a:spcBef>
                <a:spcPts val="1400"/>
              </a:spcBef>
              <a:defRPr sz="1800" b="1">
                <a:solidFill>
                  <a:srgbClr val="CBA6F7"/>
                </a:solidFill>
                <a:latin typeface="Cascadia Code"/>
              </a:defRPr>
            </a:pPr>
            <a:r>
              <a:rPr dirty="0"/>
              <a:t>  question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The single question this lead must answer</a:t>
            </a:r>
          </a:p>
          <a:p>
            <a:pPr>
              <a:spcBef>
                <a:spcPts val="1400"/>
              </a:spcBef>
              <a:defRPr sz="1800" b="1">
                <a:solidFill>
                  <a:srgbClr val="FAB387"/>
                </a:solidFill>
                <a:latin typeface="Cascadia Code"/>
              </a:defRPr>
            </a:pPr>
            <a:r>
              <a:rPr dirty="0"/>
              <a:t>  why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Why it matters for the verdict</a:t>
            </a:r>
            <a:r>
              <a:rPr lang="en-US" dirty="0"/>
              <a:t> (for synthesizer only)</a:t>
            </a:r>
            <a:endParaRPr dirty="0"/>
          </a:p>
          <a:p>
            <a:pPr>
              <a:spcBef>
                <a:spcPts val="1400"/>
              </a:spcBef>
              <a:defRPr sz="1800" b="1">
                <a:solidFill>
                  <a:srgbClr val="94E2D5"/>
                </a:solidFill>
                <a:latin typeface="Cascadia Code"/>
              </a:defRPr>
            </a:pPr>
            <a:r>
              <a:rPr dirty="0"/>
              <a:t>  evaluate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What observable property to extract</a:t>
            </a:r>
          </a:p>
          <a:p>
            <a:pPr>
              <a:spcBef>
                <a:spcPts val="1400"/>
              </a:spcBef>
              <a:defRPr sz="1800" b="1">
                <a:solidFill>
                  <a:srgbClr val="CDD6F4"/>
                </a:solidFill>
                <a:latin typeface="Cascadia Code"/>
              </a:defRPr>
            </a:pPr>
            <a:r>
              <a:rPr dirty="0"/>
              <a:t>  lines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Source lines the planner identified as relevant</a:t>
            </a:r>
          </a:p>
          <a:p>
            <a:pPr>
              <a:spcBef>
                <a:spcPts val="1400"/>
              </a:spcBef>
              <a:defRPr sz="1800" b="1">
                <a:solidFill>
                  <a:srgbClr val="A6E3A1"/>
                </a:solidFill>
                <a:latin typeface="Cascadia Code"/>
              </a:defRPr>
            </a:pPr>
            <a:r>
              <a:rPr dirty="0"/>
              <a:t>  tools</a:t>
            </a:r>
          </a:p>
          <a:p>
            <a:pPr>
              <a:spcBef>
                <a:spcPts val="400"/>
              </a:spcBef>
              <a:defRPr sz="16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Seed tools — auto-called before the LLM sees the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C7086"/>
                </a:solidFill>
                <a:latin typeface="Cascadia Code"/>
              </a:defRPr>
            </a:pPr>
            <a:r>
              <a:t>Planner generates 2–4 leads per alert  │  Each lead runs independently with its own tool budget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Old Mode vs. Orchestrated Mode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Old Mode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Orchestrated Mode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Control Flow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LLM decides tools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Python orchestrates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Parallelization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None (sequential rounds)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Leads run in parallel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Tool Deduplication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 (LLM may repeat)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Global cache (tool+args)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Drift Prevention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High risk (LLM diverges)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Low (leads pre-planned)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Dead-End Handling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LLM explores all paths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Auto-stop after 6 failures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Debugging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One big conversation log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Versioned per-lead outputs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Guard Discovery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Buried in reasoning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Explicit planner lead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9E2AF"/>
                          </a:solidFill>
                          <a:latin typeface="Cascadia Code"/>
                        </a:defRPr>
                      </a:pPr>
                      <a:r>
                        <a:t>Replay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FAB387"/>
                          </a:solidFill>
                          <a:latin typeface="Cascadia Code"/>
                        </a:defRPr>
                      </a:pPr>
                      <a:r>
                        <a:t>Not supported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Replay lead / synthesize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Replay &amp; Debugging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Each phase produces versioned output files — re-run any phase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32004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A6E3A1"/>
                </a:solidFill>
                <a:latin typeface="Cascadia Code"/>
              </a:defRPr>
            </a:pPr>
            <a:r>
              <a:t>output/results_orchestrated/c/{CID}/run_001/</a:t>
            </a:r>
            <a:br/>
            <a:r>
              <a:t>├─ 1_plan_final.json       (lead definitions)</a:t>
            </a:r>
            <a:br/>
            <a:r>
              <a:t>├─ 2_initial_code.json     (extracted source)</a:t>
            </a:r>
            <a:br/>
            <a:r>
              <a:t>├─ 2_1_final.json          (Lead 1 findings)</a:t>
            </a:r>
            <a:br/>
            <a:r>
              <a:t>├─ 2_2_final.json          (Lead 2 findings)</a:t>
            </a:r>
            <a:br/>
            <a:r>
              <a:t>├─ 2_3_final.json          (Lead 3 findings)</a:t>
            </a:r>
            <a:br/>
            <a:r>
              <a:t>├─ 3_synthesize_final.json (verdict + evidence)</a:t>
            </a:r>
            <a:br/>
            <a:r>
              <a:t>├─ run_summary.json        (cost, tokens, timing)</a:t>
            </a:r>
            <a:br/>
            <a:r>
              <a:t>└─ run_report.md           (human-readable report)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Segoe UI"/>
              </a:defRPr>
            </a:pPr>
            <a:r>
              <a:t>Replay Modes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plan_only=True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Run only the planner — inspect leads before committing to investigation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plan_file=‘...’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Load a saved plan and re-run investigation from it (skip Phase 1)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replay_lead=‘1’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Re-investigate a single lead with new settings.</a:t>
            </a:r>
            <a:br/>
            <a:r>
              <a:t>Creates versioned output (2_1_v2_final.json) — never overwrites.</a:t>
            </a:r>
          </a:p>
          <a:p>
            <a:pPr>
              <a:spcBef>
                <a:spcPts val="1400"/>
              </a:spcBef>
              <a:defRPr sz="1600" b="1">
                <a:solidFill>
                  <a:srgbClr val="CBA6F7"/>
                </a:solidFill>
                <a:latin typeface="Cascadia Code"/>
              </a:defRPr>
            </a:pPr>
            <a:r>
              <a:t>  replay_synthesize=True</a:t>
            </a:r>
          </a:p>
          <a:p>
            <a:pPr>
              <a:spcBef>
                <a:spcPts val="4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t>    Re-synthesize verdict from existing lead findings.</a:t>
            </a:r>
            <a:br/>
            <a:r>
              <a:t>Useful for testing synthesizer prompt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E2AF"/>
                </a:solidFill>
                <a:latin typeface="Segoe UI"/>
              </a:defRPr>
            </a:pPr>
            <a:r>
              <a:t>Replay enables surgical debugging: re-run only the phase that failed without re-running the whole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Efficiency — Speed &amp; Cost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Selected CIDs comparing old-mode runs to orchestrated mode (b12 batch)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9326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CID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Old Duration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New Duration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Old Cost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New Cost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27528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837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77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−91%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$0.47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$0.11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−77%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15518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1,686 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312 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−82%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$0.69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$0.43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−38%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19309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1,347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686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−49%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$0.61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$0.49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−20%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Segoe UI"/>
              </a:defRPr>
            </a:pPr>
            <a:r>
              <a:t>Average Phase Duration (b12)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846320"/>
          <a:ext cx="4572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Avg Duration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89B4FA"/>
                          </a:solidFill>
                          <a:latin typeface="Cascadia Code"/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454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CBA6F7"/>
                          </a:solidFill>
                          <a:latin typeface="Cascadia Code"/>
                        </a:defRPr>
                      </a:pPr>
                      <a:r>
                        <a:t>Plan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44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94E2D5"/>
                          </a:solidFill>
                          <a:latin typeface="Cascadia Code"/>
                        </a:defRPr>
                      </a:pPr>
                      <a:r>
                        <a:t>Investigate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89 s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24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A6E3A1"/>
                          </a:solidFill>
                          <a:latin typeface="Cascadia Code"/>
                        </a:defRPr>
                      </a:pPr>
                      <a:r>
                        <a:t>Synthesize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35 s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DD6F4"/>
                          </a:solidFill>
                          <a:latin typeface="Cascadia Code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2A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Segoe UI"/>
              </a:defRPr>
            </a:pPr>
            <a:r>
              <a:t>b12 Batch Metrics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Avg cost per CID:  $0.19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Tool hit rate:  90% (140/155)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Avg leads per CID:  3.1  (range 2–4)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Total tokens:  977,532</a:t>
            </a:r>
          </a:p>
          <a:p>
            <a:pPr>
              <a:spcBef>
                <a:spcPts val="1000"/>
              </a:spcBef>
              <a:defRPr sz="1600" b="0">
                <a:solidFill>
                  <a:srgbClr val="CDD6F4"/>
                </a:solidFill>
                <a:latin typeface="Cascadia Code"/>
              </a:defRPr>
            </a:pPr>
            <a:r>
              <a:t>  Avg tokens per CID:  ~51k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Accuracy — Batch b12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19 CIDs analyzed  │  compared against human expert ground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2286000"/>
          </a:xfrm>
          <a:prstGeom prst="roundRect">
            <a:avLst/>
          </a:prstGeom>
          <a:solidFill>
            <a:srgbClr val="2A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A6E3A1"/>
                </a:solidFill>
                <a:latin typeface="Segoe UI"/>
              </a:defRPr>
            </a:pPr>
            <a:r>
              <a:rPr lang="en-US" dirty="0"/>
              <a:t>*94</a:t>
            </a:r>
            <a:r>
              <a:rPr dirty="0"/>
              <a:t>%</a:t>
            </a:r>
            <a:br>
              <a:rPr dirty="0"/>
            </a:br>
            <a:r>
              <a:rPr dirty="0"/>
              <a:t>Accuracy</a:t>
            </a:r>
            <a:br>
              <a:rPr dirty="0"/>
            </a:br>
            <a:r>
              <a:rPr dirty="0"/>
              <a:t>(1</a:t>
            </a:r>
            <a:r>
              <a:rPr lang="en-US" dirty="0"/>
              <a:t>6</a:t>
            </a:r>
            <a:r>
              <a:rPr dirty="0"/>
              <a:t>/17 agree with human)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640080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Segoe UI"/>
              </a:defRPr>
            </a:pPr>
            <a:r>
              <a:rPr dirty="0"/>
              <a:t>Breakdown</a:t>
            </a:r>
          </a:p>
          <a:p>
            <a:pPr>
              <a:spcBef>
                <a:spcPts val="1400"/>
              </a:spcBef>
              <a:defRPr sz="1800" b="0">
                <a:solidFill>
                  <a:srgbClr val="A6E3A1"/>
                </a:solidFill>
                <a:latin typeface="Segoe UI"/>
              </a:defRPr>
            </a:pPr>
            <a:r>
              <a:rPr dirty="0"/>
              <a:t>  15 CIDs  —  Correct — agree with human verdict</a:t>
            </a:r>
          </a:p>
          <a:p>
            <a:pPr>
              <a:spcBef>
                <a:spcPts val="1400"/>
              </a:spcBef>
              <a:defRPr sz="1800" b="0">
                <a:solidFill>
                  <a:srgbClr val="FAB387"/>
                </a:solidFill>
                <a:latin typeface="Segoe UI"/>
              </a:defRPr>
            </a:pPr>
            <a:r>
              <a:rPr dirty="0"/>
              <a:t>  </a:t>
            </a:r>
            <a:r>
              <a:rPr lang="en-US" dirty="0"/>
              <a:t>1</a:t>
            </a:r>
            <a:r>
              <a:rPr dirty="0"/>
              <a:t> CID  —  Disagreement — LLM vs. human differ</a:t>
            </a:r>
          </a:p>
          <a:p>
            <a:pPr>
              <a:spcBef>
                <a:spcPts val="1400"/>
              </a:spcBef>
              <a:defRPr sz="1800" b="0">
                <a:solidFill>
                  <a:srgbClr val="6C7086"/>
                </a:solidFill>
                <a:latin typeface="Segoe UI"/>
              </a:defRPr>
            </a:pPr>
            <a:r>
              <a:rPr dirty="0"/>
              <a:t>  </a:t>
            </a:r>
            <a:r>
              <a:rPr dirty="0">
                <a:solidFill>
                  <a:srgbClr val="AEB0BE"/>
                </a:solidFill>
              </a:rPr>
              <a:t>2 CIDs  —  NMD — insufficient data to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Segoe UI"/>
              </a:defRPr>
            </a:pPr>
            <a:r>
              <a:t>Disagreements &amp; Known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F9E2AF"/>
                </a:solidFill>
                <a:latin typeface="Cascadia Code"/>
              </a:defRPr>
            </a:pPr>
            <a:r>
              <a:rPr dirty="0"/>
              <a:t>  CID 27746  (persistent</a:t>
            </a:r>
            <a:r>
              <a:rPr lang="en-US" dirty="0"/>
              <a:t> FP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</a:t>
            </a:r>
            <a:r>
              <a:rPr dirty="0" err="1"/>
              <a:t>strncpy</a:t>
            </a:r>
            <a:r>
              <a:rPr dirty="0"/>
              <a:t> to 8-byte field passed to </a:t>
            </a:r>
            <a:r>
              <a:rPr dirty="0" err="1"/>
              <a:t>DeviceIoControl</a:t>
            </a:r>
            <a:r>
              <a:rPr dirty="0"/>
              <a:t>. Planner never asked about downstream buffer consumption by SDK.</a:t>
            </a:r>
          </a:p>
          <a:p>
            <a:pPr>
              <a:spcBef>
                <a:spcPts val="800"/>
              </a:spcBef>
              <a:defRPr sz="1500" b="1">
                <a:solidFill>
                  <a:srgbClr val="F9E2AF"/>
                </a:solidFill>
                <a:latin typeface="Cascadia Code"/>
              </a:defRPr>
            </a:pPr>
            <a:r>
              <a:rPr dirty="0"/>
              <a:t>  CID 27724  (fixed</a:t>
            </a:r>
            <a:r>
              <a:rPr lang="en-US" dirty="0"/>
              <a:t> FP</a:t>
            </a:r>
            <a:r>
              <a:rPr dirty="0"/>
              <a:t> in run_008)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Missed !</a:t>
            </a:r>
            <a:r>
              <a:rPr dirty="0" err="1"/>
              <a:t>pFile.IsValid</a:t>
            </a:r>
            <a:r>
              <a:rPr dirty="0"/>
              <a:t>() guard at call site. Fixed via planner prompt update — now generates explicit guard lead.</a:t>
            </a:r>
          </a:p>
          <a:p>
            <a:pPr>
              <a:spcBef>
                <a:spcPts val="800"/>
              </a:spcBef>
              <a:defRPr sz="1500" b="1">
                <a:solidFill>
                  <a:srgbClr val="F9E2AF"/>
                </a:solidFill>
                <a:latin typeface="Cascadia Code"/>
              </a:defRPr>
            </a:pPr>
            <a:r>
              <a:rPr dirty="0"/>
              <a:t>  CID 22293 / 23745  (NMD)</a:t>
            </a:r>
          </a:p>
          <a:p>
            <a:pPr>
              <a:spcBef>
                <a:spcPts val="200"/>
              </a:spcBef>
              <a:defRPr sz="1400" b="0">
                <a:solidFill>
                  <a:srgbClr val="CDD6F4"/>
                </a:solidFill>
                <a:latin typeface="Segoe UI"/>
              </a:defRPr>
            </a:pPr>
            <a:r>
              <a:rPr dirty="0"/>
              <a:t>    Involve constant relationships (LOCAL_CLIENT_COUNT ≤ STATIC_MAX_LOCAL_CLIENTS). Database couldn’t resolve one constant.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Structured decomposition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The planner breaks complex alerts into 2–4 focused leads, preventing the LLM from drifting or getting stuck.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Python-orchestrated control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Tool calling, caching, and budgets are managed by Python — the LLM answers questions, it doesn’t drive the process.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Parallel investigation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Independent leads execute concurrently via ThreadPoolExecutor, reducing wall-clock time for multi-lead cases.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Surgical replay &amp; debugging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Each phase produces versioned artifacts. Re-run a single lead or re-synthesize without re-running the whole pipeline.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Guard-aware planning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Planner explicitly generates leads for call-site guards, addressing the most common source of missed FPs.</a:t>
            </a:r>
          </a:p>
          <a:p>
            <a:pPr>
              <a:spcBef>
                <a:spcPts val="1200"/>
              </a:spcBef>
              <a:defRPr sz="2000" b="1">
                <a:solidFill>
                  <a:srgbClr val="A6E3A1"/>
                </a:solidFill>
                <a:latin typeface="Segoe UI"/>
              </a:defRPr>
            </a:pPr>
            <a:r>
              <a:t>✅  Cost efficiency</a:t>
            </a:r>
          </a:p>
          <a:p>
            <a:pPr>
              <a:spcBef>
                <a:spcPts val="200"/>
              </a:spcBef>
              <a:defRPr sz="1600">
                <a:solidFill>
                  <a:srgbClr val="CDD6F4"/>
                </a:solidFill>
                <a:latin typeface="Segoe UI"/>
              </a:defRPr>
            </a:pPr>
            <a:r>
              <a:t>    Tool caching + focused questions + early termination yield lower cost per CID while maintaining 88%+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2334</Words>
  <Application>Microsoft Office PowerPoint</Application>
  <PresentationFormat>Widescreen</PresentationFormat>
  <Paragraphs>263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LIGGETT, TRACE</cp:lastModifiedBy>
  <cp:revision>4</cp:revision>
  <dcterms:created xsi:type="dcterms:W3CDTF">2013-01-27T09:14:16Z</dcterms:created>
  <dcterms:modified xsi:type="dcterms:W3CDTF">2026-03-27T15:12:35Z</dcterms:modified>
  <cp:category/>
</cp:coreProperties>
</file>